
<file path=[Content_Types].xml><?xml version="1.0" encoding="utf-8"?>
<Types xmlns="http://schemas.openxmlformats.org/package/2006/content-types">
  <Default ContentType="image/jpeg" Extension="jpg"/>
  <Default ContentType="image/gif" Extension="gif"/>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 name="Shape 56"/>
        <p:cNvGrpSpPr/>
        <p:nvPr/>
      </p:nvGrpSpPr>
      <p:grpSpPr>
        <a:xfrm>
          <a:off x="0" y="0"/>
          <a:ext cx="0" cy="0"/>
          <a:chOff x="0" y="0"/>
          <a:chExt cx="0" cy="0"/>
        </a:xfrm>
      </p:grpSpPr>
      <p:sp>
        <p:nvSpPr>
          <p:cNvPr id="57" name="Shape 5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8" name="Shape 5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3" name="Shape 63"/>
        <p:cNvGrpSpPr/>
        <p:nvPr/>
      </p:nvGrpSpPr>
      <p:grpSpPr>
        <a:xfrm>
          <a:off x="0" y="0"/>
          <a:ext cx="0" cy="0"/>
          <a:chOff x="0" y="0"/>
          <a:chExt cx="0" cy="0"/>
        </a:xfrm>
      </p:grpSpPr>
      <p:sp>
        <p:nvSpPr>
          <p:cNvPr id="64" name="Shape 6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5" name="Shape 6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0" name="Shape 70"/>
        <p:cNvGrpSpPr/>
        <p:nvPr/>
      </p:nvGrpSpPr>
      <p:grpSpPr>
        <a:xfrm>
          <a:off x="0" y="0"/>
          <a:ext cx="0" cy="0"/>
          <a:chOff x="0" y="0"/>
          <a:chExt cx="0" cy="0"/>
        </a:xfrm>
      </p:grpSpPr>
      <p:sp>
        <p:nvSpPr>
          <p:cNvPr id="71" name="Shape 7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2" name="Shape 7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6" name="Shape 76"/>
        <p:cNvGrpSpPr/>
        <p:nvPr/>
      </p:nvGrpSpPr>
      <p:grpSpPr>
        <a:xfrm>
          <a:off x="0" y="0"/>
          <a:ext cx="0" cy="0"/>
          <a:chOff x="0" y="0"/>
          <a:chExt cx="0" cy="0"/>
        </a:xfrm>
      </p:grpSpPr>
      <p:sp>
        <p:nvSpPr>
          <p:cNvPr id="77" name="Shape 7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8" name="Shape 7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2" name="Shape 82"/>
        <p:cNvGrpSpPr/>
        <p:nvPr/>
      </p:nvGrpSpPr>
      <p:grpSpPr>
        <a:xfrm>
          <a:off x="0" y="0"/>
          <a:ext cx="0" cy="0"/>
          <a:chOff x="0" y="0"/>
          <a:chExt cx="0" cy="0"/>
        </a:xfrm>
      </p:grpSpPr>
      <p:sp>
        <p:nvSpPr>
          <p:cNvPr id="83" name="Shape 8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4" name="Shape 8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8" name="Shape 88"/>
        <p:cNvGrpSpPr/>
        <p:nvPr/>
      </p:nvGrpSpPr>
      <p:grpSpPr>
        <a:xfrm>
          <a:off x="0" y="0"/>
          <a:ext cx="0" cy="0"/>
          <a:chOff x="0" y="0"/>
          <a:chExt cx="0" cy="0"/>
        </a:xfrm>
      </p:grpSpPr>
      <p:sp>
        <p:nvSpPr>
          <p:cNvPr id="89" name="Shape 8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0" name="Shape 9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 name="Shape 94"/>
        <p:cNvGrpSpPr/>
        <p:nvPr/>
      </p:nvGrpSpPr>
      <p:grpSpPr>
        <a:xfrm>
          <a:off x="0" y="0"/>
          <a:ext cx="0" cy="0"/>
          <a:chOff x="0" y="0"/>
          <a:chExt cx="0" cy="0"/>
        </a:xfrm>
      </p:grpSpPr>
      <p:sp>
        <p:nvSpPr>
          <p:cNvPr id="95" name="Shape 9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6" name="Shape 9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0" name="Shape 100"/>
        <p:cNvGrpSpPr/>
        <p:nvPr/>
      </p:nvGrpSpPr>
      <p:grpSpPr>
        <a:xfrm>
          <a:off x="0" y="0"/>
          <a:ext cx="0" cy="0"/>
          <a:chOff x="0" y="0"/>
          <a:chExt cx="0" cy="0"/>
        </a:xfrm>
      </p:grpSpPr>
      <p:sp>
        <p:nvSpPr>
          <p:cNvPr id="101" name="Shape 10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2" name="Shape 10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6" name="Shape 106"/>
        <p:cNvGrpSpPr/>
        <p:nvPr/>
      </p:nvGrpSpPr>
      <p:grpSpPr>
        <a:xfrm>
          <a:off x="0" y="0"/>
          <a:ext cx="0" cy="0"/>
          <a:chOff x="0" y="0"/>
          <a:chExt cx="0" cy="0"/>
        </a:xfrm>
      </p:grpSpPr>
      <p:sp>
        <p:nvSpPr>
          <p:cNvPr id="107" name="Shape 10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8" name="Shape 10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2" name="Shape 112"/>
        <p:cNvGrpSpPr/>
        <p:nvPr/>
      </p:nvGrpSpPr>
      <p:grpSpPr>
        <a:xfrm>
          <a:off x="0" y="0"/>
          <a:ext cx="0" cy="0"/>
          <a:chOff x="0" y="0"/>
          <a:chExt cx="0" cy="0"/>
        </a:xfrm>
      </p:grpSpPr>
      <p:sp>
        <p:nvSpPr>
          <p:cNvPr id="113" name="Shape 11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4" name="Shape 11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9" name="Shape 119"/>
        <p:cNvGrpSpPr/>
        <p:nvPr/>
      </p:nvGrpSpPr>
      <p:grpSpPr>
        <a:xfrm>
          <a:off x="0" y="0"/>
          <a:ext cx="0" cy="0"/>
          <a:chOff x="0" y="0"/>
          <a:chExt cx="0" cy="0"/>
        </a:xfrm>
      </p:grpSpPr>
      <p:sp>
        <p:nvSpPr>
          <p:cNvPr id="120" name="Shape 12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1" name="Shape 12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6" name="Shape 126"/>
        <p:cNvGrpSpPr/>
        <p:nvPr/>
      </p:nvGrpSpPr>
      <p:grpSpPr>
        <a:xfrm>
          <a:off x="0" y="0"/>
          <a:ext cx="0" cy="0"/>
          <a:chOff x="0" y="0"/>
          <a:chExt cx="0" cy="0"/>
        </a:xfrm>
      </p:grpSpPr>
      <p:sp>
        <p:nvSpPr>
          <p:cNvPr id="127" name="Shape 12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8" name="Shape 12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3" name="Shape 133"/>
        <p:cNvGrpSpPr/>
        <p:nvPr/>
      </p:nvGrpSpPr>
      <p:grpSpPr>
        <a:xfrm>
          <a:off x="0" y="0"/>
          <a:ext cx="0" cy="0"/>
          <a:chOff x="0" y="0"/>
          <a:chExt cx="0" cy="0"/>
        </a:xfrm>
      </p:grpSpPr>
      <p:sp>
        <p:nvSpPr>
          <p:cNvPr id="134" name="Shape 13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5" name="Shape 13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9" name="Shape 139"/>
        <p:cNvGrpSpPr/>
        <p:nvPr/>
      </p:nvGrpSpPr>
      <p:grpSpPr>
        <a:xfrm>
          <a:off x="0" y="0"/>
          <a:ext cx="0" cy="0"/>
          <a:chOff x="0" y="0"/>
          <a:chExt cx="0" cy="0"/>
        </a:xfrm>
      </p:grpSpPr>
      <p:sp>
        <p:nvSpPr>
          <p:cNvPr id="140" name="Shape 14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1" name="Shape 14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5" name="Shape 145"/>
        <p:cNvGrpSpPr/>
        <p:nvPr/>
      </p:nvGrpSpPr>
      <p:grpSpPr>
        <a:xfrm>
          <a:off x="0" y="0"/>
          <a:ext cx="0" cy="0"/>
          <a:chOff x="0" y="0"/>
          <a:chExt cx="0" cy="0"/>
        </a:xfrm>
      </p:grpSpPr>
      <p:sp>
        <p:nvSpPr>
          <p:cNvPr id="146" name="Shape 14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7" name="Shape 14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1" name="Shape 151"/>
        <p:cNvGrpSpPr/>
        <p:nvPr/>
      </p:nvGrpSpPr>
      <p:grpSpPr>
        <a:xfrm>
          <a:off x="0" y="0"/>
          <a:ext cx="0" cy="0"/>
          <a:chOff x="0" y="0"/>
          <a:chExt cx="0" cy="0"/>
        </a:xfrm>
      </p:grpSpPr>
      <p:sp>
        <p:nvSpPr>
          <p:cNvPr id="152" name="Shape 15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3" name="Shape 15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sp>
        <p:nvSpPr>
          <p:cNvPr id="10" name="Shape 10"/>
          <p:cNvSpPr txBox="1"/>
          <p:nvPr>
            <p:ph type="ctrTitle"/>
          </p:nvPr>
        </p:nvSpPr>
        <p:spPr>
          <a:xfrm>
            <a:off x="311708" y="744575"/>
            <a:ext cx="8520600" cy="2052600"/>
          </a:xfrm>
          <a:prstGeom prst="rect">
            <a:avLst/>
          </a:prstGeom>
        </p:spPr>
        <p:txBody>
          <a:bodyPr anchorCtr="0" anchor="b" bIns="91425" lIns="91425" rIns="91425" tIns="91425"/>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p:txBody>
      </p:sp>
      <p:sp>
        <p:nvSpPr>
          <p:cNvPr id="11" name="Shape 11"/>
          <p:cNvSpPr txBox="1"/>
          <p:nvPr>
            <p:ph idx="1" type="subTitle"/>
          </p:nvPr>
        </p:nvSpPr>
        <p:spPr>
          <a:xfrm>
            <a:off x="311700" y="2834125"/>
            <a:ext cx="8520600" cy="7926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p:txBody>
      </p:sp>
      <p:sp>
        <p:nvSpPr>
          <p:cNvPr id="12" name="Shape 12"/>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13" name="Shape 13"/>
        <p:cNvGrpSpPr/>
        <p:nvPr/>
      </p:nvGrpSpPr>
      <p:grpSpPr>
        <a:xfrm>
          <a:off x="0" y="0"/>
          <a:ext cx="0" cy="0"/>
          <a:chOff x="0" y="0"/>
          <a:chExt cx="0" cy="0"/>
        </a:xfrm>
      </p:grpSpPr>
      <p:sp>
        <p:nvSpPr>
          <p:cNvPr id="14" name="Shape 14"/>
          <p:cNvSpPr txBox="1"/>
          <p:nvPr>
            <p:ph type="title"/>
          </p:nvPr>
        </p:nvSpPr>
        <p:spPr>
          <a:xfrm>
            <a:off x="311700" y="2150850"/>
            <a:ext cx="8520600" cy="841800"/>
          </a:xfrm>
          <a:prstGeom prst="rect">
            <a:avLst/>
          </a:prstGeom>
        </p:spPr>
        <p:txBody>
          <a:bodyPr anchorCtr="0" anchor="ctr" bIns="91425" lIns="91425" rIns="91425" tIns="91425"/>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p:txBody>
      </p:sp>
      <p:sp>
        <p:nvSpPr>
          <p:cNvPr id="15" name="Shape 15"/>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8" name="Shape 18"/>
          <p:cNvSpPr txBox="1"/>
          <p:nvPr>
            <p:ph idx="1" type="body"/>
          </p:nvPr>
        </p:nvSpPr>
        <p:spPr>
          <a:xfrm>
            <a:off x="311700" y="1152475"/>
            <a:ext cx="8520600" cy="34164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9" name="Shape 1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0" name="Shape 20"/>
        <p:cNvGrpSpPr/>
        <p:nvPr/>
      </p:nvGrpSpPr>
      <p:grpSpPr>
        <a:xfrm>
          <a:off x="0" y="0"/>
          <a:ext cx="0" cy="0"/>
          <a:chOff x="0" y="0"/>
          <a:chExt cx="0" cy="0"/>
        </a:xfrm>
      </p:grpSpPr>
      <p:sp>
        <p:nvSpPr>
          <p:cNvPr id="21" name="Shape 21"/>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1" type="body"/>
          </p:nvPr>
        </p:nvSpPr>
        <p:spPr>
          <a:xfrm>
            <a:off x="3117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3" name="Shape 23"/>
          <p:cNvSpPr txBox="1"/>
          <p:nvPr>
            <p:ph idx="2" type="body"/>
          </p:nvPr>
        </p:nvSpPr>
        <p:spPr>
          <a:xfrm>
            <a:off x="4832400" y="1152475"/>
            <a:ext cx="3999900" cy="34164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4" name="Shape 2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5" name="Shape 25"/>
        <p:cNvGrpSpPr/>
        <p:nvPr/>
      </p:nvGrpSpPr>
      <p:grpSpPr>
        <a:xfrm>
          <a:off x="0" y="0"/>
          <a:ext cx="0" cy="0"/>
          <a:chOff x="0" y="0"/>
          <a:chExt cx="0" cy="0"/>
        </a:xfrm>
      </p:grpSpPr>
      <p:sp>
        <p:nvSpPr>
          <p:cNvPr id="26" name="Shape 26"/>
          <p:cNvSpPr txBox="1"/>
          <p:nvPr>
            <p:ph type="title"/>
          </p:nvPr>
        </p:nvSpPr>
        <p:spPr>
          <a:xfrm>
            <a:off x="311700" y="445025"/>
            <a:ext cx="8520600" cy="572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7" name="Shape 2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28" name="Shape 28"/>
        <p:cNvGrpSpPr/>
        <p:nvPr/>
      </p:nvGrpSpPr>
      <p:grpSpPr>
        <a:xfrm>
          <a:off x="0" y="0"/>
          <a:ext cx="0" cy="0"/>
          <a:chOff x="0" y="0"/>
          <a:chExt cx="0" cy="0"/>
        </a:xfrm>
      </p:grpSpPr>
      <p:sp>
        <p:nvSpPr>
          <p:cNvPr id="29" name="Shape 29"/>
          <p:cNvSpPr txBox="1"/>
          <p:nvPr>
            <p:ph type="title"/>
          </p:nvPr>
        </p:nvSpPr>
        <p:spPr>
          <a:xfrm>
            <a:off x="311700" y="555600"/>
            <a:ext cx="2808000" cy="755700"/>
          </a:xfrm>
          <a:prstGeom prst="rect">
            <a:avLst/>
          </a:prstGeom>
        </p:spPr>
        <p:txBody>
          <a:bodyPr anchorCtr="0" anchor="b" bIns="91425" lIns="91425" rIns="91425" tIns="91425"/>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p:txBody>
      </p:sp>
      <p:sp>
        <p:nvSpPr>
          <p:cNvPr id="30" name="Shape 30"/>
          <p:cNvSpPr txBox="1"/>
          <p:nvPr>
            <p:ph idx="1" type="body"/>
          </p:nvPr>
        </p:nvSpPr>
        <p:spPr>
          <a:xfrm>
            <a:off x="311700" y="1389600"/>
            <a:ext cx="2808000" cy="3179400"/>
          </a:xfrm>
          <a:prstGeom prst="rect">
            <a:avLst/>
          </a:prstGeom>
        </p:spPr>
        <p:txBody>
          <a:bodyPr anchorCtr="0" anchor="t" bIns="91425" lIns="91425" rIns="91425" tIns="91425"/>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31" name="Shape 31"/>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spTree>
      <p:nvGrpSpPr>
        <p:cNvPr id="32" name="Shape 32"/>
        <p:cNvGrpSpPr/>
        <p:nvPr/>
      </p:nvGrpSpPr>
      <p:grpSpPr>
        <a:xfrm>
          <a:off x="0" y="0"/>
          <a:ext cx="0" cy="0"/>
          <a:chOff x="0" y="0"/>
          <a:chExt cx="0" cy="0"/>
        </a:xfrm>
      </p:grpSpPr>
      <p:sp>
        <p:nvSpPr>
          <p:cNvPr id="33" name="Shape 33"/>
          <p:cNvSpPr txBox="1"/>
          <p:nvPr>
            <p:ph type="title"/>
          </p:nvPr>
        </p:nvSpPr>
        <p:spPr>
          <a:xfrm>
            <a:off x="490250" y="450150"/>
            <a:ext cx="6367800" cy="4090800"/>
          </a:xfrm>
          <a:prstGeom prst="rect">
            <a:avLst/>
          </a:prstGeom>
        </p:spPr>
        <p:txBody>
          <a:bodyPr anchorCtr="0" anchor="ctr" bIns="91425" lIns="91425" rIns="91425" tIns="91425"/>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p:txBody>
      </p:sp>
      <p:sp>
        <p:nvSpPr>
          <p:cNvPr id="34" name="Shape 34"/>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35"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anchorCtr="0" anchor="ctr" bIns="91425" lIns="91425" rIns="91425" tIns="91425">
            <a:noAutofit/>
          </a:bodyPr>
          <a:lstStyle/>
          <a:p>
            <a:pPr lvl="0">
              <a:spcBef>
                <a:spcPts val="0"/>
              </a:spcBef>
              <a:buNone/>
            </a:pPr>
            <a:r>
              <a:t/>
            </a:r>
            <a:endParaRPr/>
          </a:p>
        </p:txBody>
      </p:sp>
      <p:sp>
        <p:nvSpPr>
          <p:cNvPr id="37" name="Shape 37"/>
          <p:cNvSpPr txBox="1"/>
          <p:nvPr>
            <p:ph type="title"/>
          </p:nvPr>
        </p:nvSpPr>
        <p:spPr>
          <a:xfrm>
            <a:off x="265500" y="1233175"/>
            <a:ext cx="4045200" cy="1482300"/>
          </a:xfrm>
          <a:prstGeom prst="rect">
            <a:avLst/>
          </a:prstGeom>
        </p:spPr>
        <p:txBody>
          <a:bodyPr anchorCtr="0" anchor="b" bIns="91425" lIns="91425" rIns="91425" tIns="91425"/>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p:txBody>
      </p:sp>
      <p:sp>
        <p:nvSpPr>
          <p:cNvPr id="38" name="Shape 38"/>
          <p:cNvSpPr txBox="1"/>
          <p:nvPr>
            <p:ph idx="1" type="subTitle"/>
          </p:nvPr>
        </p:nvSpPr>
        <p:spPr>
          <a:xfrm>
            <a:off x="265500" y="2803075"/>
            <a:ext cx="4045200" cy="12351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p:txBody>
      </p:sp>
      <p:sp>
        <p:nvSpPr>
          <p:cNvPr id="39" name="Shape 39"/>
          <p:cNvSpPr txBox="1"/>
          <p:nvPr>
            <p:ph idx="2" type="body"/>
          </p:nvPr>
        </p:nvSpPr>
        <p:spPr>
          <a:xfrm>
            <a:off x="4939500" y="724075"/>
            <a:ext cx="3837000" cy="3695100"/>
          </a:xfrm>
          <a:prstGeom prst="rect">
            <a:avLst/>
          </a:prstGeom>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40" name="Shape 40"/>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1" name="Shape 41"/>
        <p:cNvGrpSpPr/>
        <p:nvPr/>
      </p:nvGrpSpPr>
      <p:grpSpPr>
        <a:xfrm>
          <a:off x="0" y="0"/>
          <a:ext cx="0" cy="0"/>
          <a:chOff x="0" y="0"/>
          <a:chExt cx="0" cy="0"/>
        </a:xfrm>
      </p:grpSpPr>
      <p:sp>
        <p:nvSpPr>
          <p:cNvPr id="42" name="Shape 42"/>
          <p:cNvSpPr txBox="1"/>
          <p:nvPr>
            <p:ph idx="1" type="body"/>
          </p:nvPr>
        </p:nvSpPr>
        <p:spPr>
          <a:xfrm>
            <a:off x="311700" y="4230575"/>
            <a:ext cx="5998800" cy="605100"/>
          </a:xfrm>
          <a:prstGeom prst="rect">
            <a:avLst/>
          </a:prstGeom>
        </p:spPr>
        <p:txBody>
          <a:bodyPr anchorCtr="0" anchor="ctr" bIns="91425" lIns="91425" rIns="91425" tIns="91425"/>
          <a:lstStyle>
            <a:lvl1pPr lvl="0">
              <a:lnSpc>
                <a:spcPct val="100000"/>
              </a:lnSpc>
              <a:spcBef>
                <a:spcPts val="0"/>
              </a:spcBef>
              <a:spcAft>
                <a:spcPts val="0"/>
              </a:spcAft>
              <a:buNone/>
              <a:defRPr/>
            </a:lvl1pPr>
          </a:lstStyle>
          <a:p/>
        </p:txBody>
      </p:sp>
      <p:sp>
        <p:nvSpPr>
          <p:cNvPr id="43" name="Shape 43"/>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spTree>
      <p:nvGrpSpPr>
        <p:cNvPr id="44" name="Shape 44"/>
        <p:cNvGrpSpPr/>
        <p:nvPr/>
      </p:nvGrpSpPr>
      <p:grpSpPr>
        <a:xfrm>
          <a:off x="0" y="0"/>
          <a:ext cx="0" cy="0"/>
          <a:chOff x="0" y="0"/>
          <a:chExt cx="0" cy="0"/>
        </a:xfrm>
      </p:grpSpPr>
      <p:sp>
        <p:nvSpPr>
          <p:cNvPr id="45" name="Shape 45"/>
          <p:cNvSpPr txBox="1"/>
          <p:nvPr>
            <p:ph type="title"/>
          </p:nvPr>
        </p:nvSpPr>
        <p:spPr>
          <a:xfrm>
            <a:off x="311700" y="1106125"/>
            <a:ext cx="8520600" cy="1963500"/>
          </a:xfrm>
          <a:prstGeom prst="rect">
            <a:avLst/>
          </a:prstGeom>
        </p:spPr>
        <p:txBody>
          <a:bodyPr anchorCtr="0" anchor="b" bIns="91425" lIns="91425" rIns="91425" tIns="91425"/>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p:txBody>
      </p:sp>
      <p:sp>
        <p:nvSpPr>
          <p:cNvPr id="46" name="Shape 46"/>
          <p:cNvSpPr txBox="1"/>
          <p:nvPr>
            <p:ph idx="1" type="body"/>
          </p:nvPr>
        </p:nvSpPr>
        <p:spPr>
          <a:xfrm>
            <a:off x="311700" y="3152225"/>
            <a:ext cx="8520600" cy="1300800"/>
          </a:xfrm>
          <a:prstGeom prst="rect">
            <a:avLst/>
          </a:prstGeom>
        </p:spPr>
        <p:txBody>
          <a:bodyPr anchorCtr="0" anchor="t" bIns="91425" lIns="91425" rIns="91425" tIns="91425"/>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p:txBody>
      </p:sp>
      <p:sp>
        <p:nvSpPr>
          <p:cNvPr id="47" name="Shape 47"/>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48" name="Shape 48"/>
        <p:cNvGrpSpPr/>
        <p:nvPr/>
      </p:nvGrpSpPr>
      <p:grpSpPr>
        <a:xfrm>
          <a:off x="0" y="0"/>
          <a:ext cx="0" cy="0"/>
          <a:chOff x="0" y="0"/>
          <a:chExt cx="0" cy="0"/>
        </a:xfrm>
      </p:grpSpPr>
      <p:sp>
        <p:nvSpPr>
          <p:cNvPr id="49" name="Shape 49"/>
          <p:cNvSpPr txBox="1"/>
          <p:nvPr>
            <p:ph idx="12" type="sldNum"/>
          </p:nvPr>
        </p:nvSpPr>
        <p:spPr>
          <a:xfrm>
            <a:off x="8472457" y="4663216"/>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rIns="91425" tIns="91425"/>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rIns="91425" tIns="91425"/>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p:txBody>
      </p:sp>
      <p:sp>
        <p:nvSpPr>
          <p:cNvPr id="8" name="Shape 8"/>
          <p:cNvSpPr txBox="1"/>
          <p:nvPr>
            <p:ph idx="12" type="sldNum"/>
          </p:nvPr>
        </p:nvSpPr>
        <p:spPr>
          <a:xfrm>
            <a:off x="8472457" y="4663216"/>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000">
                <a:solidFill>
                  <a:schemeClr val="dk2"/>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0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0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0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0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0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sp>
        <p:nvSpPr>
          <p:cNvPr id="54" name="Shape 54"/>
          <p:cNvSpPr txBox="1"/>
          <p:nvPr>
            <p:ph type="ctrTitle"/>
          </p:nvPr>
        </p:nvSpPr>
        <p:spPr>
          <a:xfrm>
            <a:off x="311708" y="744575"/>
            <a:ext cx="8520600" cy="2052600"/>
          </a:xfrm>
          <a:prstGeom prst="rect">
            <a:avLst/>
          </a:prstGeom>
        </p:spPr>
        <p:txBody>
          <a:bodyPr anchorCtr="0" anchor="b" bIns="91425" lIns="91425" rIns="91425" tIns="91425">
            <a:noAutofit/>
          </a:bodyPr>
          <a:lstStyle/>
          <a:p>
            <a:pPr lvl="0">
              <a:spcBef>
                <a:spcPts val="0"/>
              </a:spcBef>
              <a:buNone/>
            </a:pPr>
            <a:r>
              <a:rPr lang="en"/>
              <a:t>WWCode - Silicon Valley</a:t>
            </a:r>
          </a:p>
        </p:txBody>
      </p:sp>
      <p:sp>
        <p:nvSpPr>
          <p:cNvPr id="55" name="Shape 55"/>
          <p:cNvSpPr txBox="1"/>
          <p:nvPr>
            <p:ph idx="1" type="subTitle"/>
          </p:nvPr>
        </p:nvSpPr>
        <p:spPr>
          <a:xfrm>
            <a:off x="311700" y="2834125"/>
            <a:ext cx="8520600" cy="792600"/>
          </a:xfrm>
          <a:prstGeom prst="rect">
            <a:avLst/>
          </a:prstGeom>
        </p:spPr>
        <p:txBody>
          <a:bodyPr anchorCtr="0" anchor="t" bIns="91425" lIns="91425" rIns="91425" tIns="91425">
            <a:noAutofit/>
          </a:bodyPr>
          <a:lstStyle/>
          <a:p>
            <a:pPr lvl="0">
              <a:spcBef>
                <a:spcPts val="0"/>
              </a:spcBef>
              <a:buNone/>
            </a:pPr>
            <a:r>
              <a:rPr lang="en"/>
              <a:t>Q4 Leadership meeting</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9" name="Shape 59"/>
        <p:cNvGrpSpPr/>
        <p:nvPr/>
      </p:nvGrpSpPr>
      <p:grpSpPr>
        <a:xfrm>
          <a:off x="0" y="0"/>
          <a:ext cx="0" cy="0"/>
          <a:chOff x="0" y="0"/>
          <a:chExt cx="0" cy="0"/>
        </a:xfrm>
      </p:grpSpPr>
      <p:sp>
        <p:nvSpPr>
          <p:cNvPr id="60" name="Shape 60"/>
          <p:cNvSpPr txBox="1"/>
          <p:nvPr>
            <p:ph type="ctrTitle"/>
          </p:nvPr>
        </p:nvSpPr>
        <p:spPr>
          <a:xfrm>
            <a:off x="311708" y="744575"/>
            <a:ext cx="8520600" cy="2052600"/>
          </a:xfrm>
          <a:prstGeom prst="rect">
            <a:avLst/>
          </a:prstGeom>
        </p:spPr>
        <p:txBody>
          <a:bodyPr anchorCtr="0" anchor="b" bIns="91425" lIns="91425" rIns="91425" tIns="91425">
            <a:noAutofit/>
          </a:bodyPr>
          <a:lstStyle/>
          <a:p>
            <a:pPr lvl="0">
              <a:spcBef>
                <a:spcPts val="0"/>
              </a:spcBef>
              <a:buNone/>
            </a:pPr>
            <a:r>
              <a:t/>
            </a:r>
            <a:endParaRPr/>
          </a:p>
        </p:txBody>
      </p:sp>
      <p:sp>
        <p:nvSpPr>
          <p:cNvPr id="61" name="Shape 61"/>
          <p:cNvSpPr txBox="1"/>
          <p:nvPr>
            <p:ph idx="1" type="subTitle"/>
          </p:nvPr>
        </p:nvSpPr>
        <p:spPr>
          <a:xfrm>
            <a:off x="311700" y="2834125"/>
            <a:ext cx="8520600" cy="792600"/>
          </a:xfrm>
          <a:prstGeom prst="rect">
            <a:avLst/>
          </a:prstGeom>
        </p:spPr>
        <p:txBody>
          <a:bodyPr anchorCtr="0" anchor="t" bIns="91425" lIns="91425" rIns="91425" tIns="91425">
            <a:noAutofit/>
          </a:bodyPr>
          <a:lstStyle/>
          <a:p>
            <a:pPr lvl="0">
              <a:spcBef>
                <a:spcPts val="0"/>
              </a:spcBef>
              <a:buNone/>
            </a:pPr>
            <a:r>
              <a:t/>
            </a:r>
            <a:endParaRPr/>
          </a:p>
        </p:txBody>
      </p:sp>
      <p:pic>
        <p:nvPicPr>
          <p:cNvPr descr="Image result for celebrations" id="62" name="Shape 62"/>
          <p:cNvPicPr preferRelativeResize="0"/>
          <p:nvPr/>
        </p:nvPicPr>
        <p:blipFill>
          <a:blip r:embed="rId3">
            <a:alphaModFix/>
          </a:blip>
          <a:stretch>
            <a:fillRect/>
          </a:stretch>
        </p:blipFill>
        <p:spPr>
          <a:xfrm>
            <a:off x="0" y="0"/>
            <a:ext cx="9143999" cy="53856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6" name="Shape 66"/>
        <p:cNvGrpSpPr/>
        <p:nvPr/>
      </p:nvGrpSpPr>
      <p:grpSpPr>
        <a:xfrm>
          <a:off x="0" y="0"/>
          <a:ext cx="0" cy="0"/>
          <a:chOff x="0" y="0"/>
          <a:chExt cx="0" cy="0"/>
        </a:xfrm>
      </p:grpSpPr>
      <p:sp>
        <p:nvSpPr>
          <p:cNvPr id="67" name="Shape 67"/>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t/>
            </a:r>
            <a:endParaRPr/>
          </a:p>
        </p:txBody>
      </p:sp>
      <p:sp>
        <p:nvSpPr>
          <p:cNvPr id="68" name="Shape 68"/>
          <p:cNvSpPr txBox="1"/>
          <p:nvPr>
            <p:ph idx="1" type="body"/>
          </p:nvPr>
        </p:nvSpPr>
        <p:spPr>
          <a:xfrm>
            <a:off x="311700" y="1152475"/>
            <a:ext cx="8520600" cy="3416400"/>
          </a:xfrm>
          <a:prstGeom prst="rect">
            <a:avLst/>
          </a:prstGeom>
        </p:spPr>
        <p:txBody>
          <a:bodyPr anchorCtr="0" anchor="t" bIns="91425" lIns="91425" rIns="91425" tIns="91425">
            <a:noAutofit/>
          </a:bodyPr>
          <a:lstStyle/>
          <a:p>
            <a:pPr lvl="0" rtl="0">
              <a:spcBef>
                <a:spcPts val="0"/>
              </a:spcBef>
              <a:buNone/>
            </a:pPr>
            <a:r>
              <a:t/>
            </a:r>
            <a:endParaRPr/>
          </a:p>
        </p:txBody>
      </p:sp>
      <p:pic>
        <p:nvPicPr>
          <p:cNvPr descr="Image result for 3000" id="69" name="Shape 69"/>
          <p:cNvPicPr preferRelativeResize="0"/>
          <p:nvPr/>
        </p:nvPicPr>
        <p:blipFill>
          <a:blip r:embed="rId3">
            <a:alphaModFix/>
          </a:blip>
          <a:stretch>
            <a:fillRect/>
          </a:stretch>
        </p:blipFill>
        <p:spPr>
          <a:xfrm>
            <a:off x="-128600" y="0"/>
            <a:ext cx="9424999" cy="5143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3" name="Shape 73"/>
        <p:cNvGrpSpPr/>
        <p:nvPr/>
      </p:nvGrpSpPr>
      <p:grpSpPr>
        <a:xfrm>
          <a:off x="0" y="0"/>
          <a:ext cx="0" cy="0"/>
          <a:chOff x="0" y="0"/>
          <a:chExt cx="0" cy="0"/>
        </a:xfrm>
      </p:grpSpPr>
      <p:sp>
        <p:nvSpPr>
          <p:cNvPr id="74" name="Shape 74"/>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rPr lang="en"/>
              <a:t>Agenda</a:t>
            </a:r>
          </a:p>
        </p:txBody>
      </p:sp>
      <p:sp>
        <p:nvSpPr>
          <p:cNvPr id="75" name="Shape 75"/>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rPr lang="en"/>
              <a:t>(12:05-12:15) Updates from Ops team - Snehal &amp; Leann</a:t>
            </a:r>
          </a:p>
          <a:p>
            <a:pPr lvl="0">
              <a:spcBef>
                <a:spcPts val="0"/>
              </a:spcBef>
              <a:buNone/>
            </a:pPr>
            <a:r>
              <a:rPr lang="en"/>
              <a:t>(12:15-12:25) Data + Analysis - Introduction of Program Management Processes &amp; Measurements, Branding (Hack Clubs) - Guiti</a:t>
            </a:r>
          </a:p>
          <a:p>
            <a:pPr lvl="0">
              <a:spcBef>
                <a:spcPts val="0"/>
              </a:spcBef>
              <a:buNone/>
            </a:pPr>
            <a:r>
              <a:rPr lang="en"/>
              <a:t>(12:25 - 1:25) Updates from Leaders in attendance &amp; news (see slides)</a:t>
            </a:r>
          </a:p>
          <a:p>
            <a:pPr lvl="0" rtl="0">
              <a:spcBef>
                <a:spcPts val="0"/>
              </a:spcBef>
              <a:buNone/>
            </a:pPr>
            <a:r>
              <a:rPr lang="en"/>
              <a:t>(1:25 - 2) Next year’s overview Plan  -  All (WIP)</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9" name="Shape 79"/>
        <p:cNvGrpSpPr/>
        <p:nvPr/>
      </p:nvGrpSpPr>
      <p:grpSpPr>
        <a:xfrm>
          <a:off x="0" y="0"/>
          <a:ext cx="0" cy="0"/>
          <a:chOff x="0" y="0"/>
          <a:chExt cx="0" cy="0"/>
        </a:xfrm>
      </p:grpSpPr>
      <p:sp>
        <p:nvSpPr>
          <p:cNvPr id="80" name="Shape 80"/>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Operations team </a:t>
            </a:r>
          </a:p>
        </p:txBody>
      </p:sp>
      <p:sp>
        <p:nvSpPr>
          <p:cNvPr id="81" name="Shape 81"/>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rPr lang="en"/>
              <a:t>The purpose of the team is to support the operations of WWC-SV events, programs, and member and volunteer recruitment.  </a:t>
            </a:r>
          </a:p>
          <a:p>
            <a:pPr lvl="0">
              <a:spcBef>
                <a:spcPts val="0"/>
              </a:spcBef>
              <a:buNone/>
            </a:pPr>
            <a:r>
              <a:rPr lang="en"/>
              <a:t>Team: Snehal,  Guiti, Kerry Rosado, Bharti Kripalani, Bindu Mohan, or Leann Pereira. (need a Marketing lead to join)</a:t>
            </a:r>
          </a:p>
          <a:p>
            <a:pPr lvl="0">
              <a:spcBef>
                <a:spcPts val="0"/>
              </a:spcBef>
              <a:buNone/>
            </a:pPr>
            <a:r>
              <a:rPr lang="en"/>
              <a:t>See new forms on: ……….  womenwhocode.com/sv </a:t>
            </a:r>
          </a:p>
          <a:p>
            <a:pPr lvl="0">
              <a:spcBef>
                <a:spcPts val="0"/>
              </a:spcBef>
              <a:buNone/>
            </a:pPr>
            <a:r>
              <a:rPr lang="en"/>
              <a:t>Including links for FAQ, Sponsors/Hosts or Volunteers:  </a:t>
            </a:r>
          </a:p>
          <a:p>
            <a:pPr lvl="0">
              <a:spcBef>
                <a:spcPts val="0"/>
              </a:spcBef>
              <a:buNone/>
            </a:pPr>
            <a:r>
              <a:rPr lang="en"/>
              <a:t>bit.ly/BeSponsor </a:t>
            </a:r>
          </a:p>
          <a:p>
            <a:pPr lvl="0">
              <a:spcBef>
                <a:spcPts val="0"/>
              </a:spcBef>
              <a:buNone/>
            </a:pPr>
            <a:r>
              <a:rPr lang="en"/>
              <a:t>bit.ly/BeVolunteer</a:t>
            </a:r>
          </a:p>
          <a:p>
            <a:pPr lvl="0">
              <a:spcBef>
                <a:spcPts val="0"/>
              </a:spcBef>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5" name="Shape 85"/>
        <p:cNvGrpSpPr/>
        <p:nvPr/>
      </p:nvGrpSpPr>
      <p:grpSpPr>
        <a:xfrm>
          <a:off x="0" y="0"/>
          <a:ext cx="0" cy="0"/>
          <a:chOff x="0" y="0"/>
          <a:chExt cx="0" cy="0"/>
        </a:xfrm>
      </p:grpSpPr>
      <p:sp>
        <p:nvSpPr>
          <p:cNvPr id="86" name="Shape 86"/>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More forms</a:t>
            </a:r>
          </a:p>
        </p:txBody>
      </p:sp>
      <p:sp>
        <p:nvSpPr>
          <p:cNvPr id="87" name="Shape 87"/>
          <p:cNvSpPr txBox="1"/>
          <p:nvPr>
            <p:ph idx="1" type="body"/>
          </p:nvPr>
        </p:nvSpPr>
        <p:spPr>
          <a:xfrm>
            <a:off x="311700" y="1152475"/>
            <a:ext cx="8520600" cy="3416400"/>
          </a:xfrm>
          <a:prstGeom prst="rect">
            <a:avLst/>
          </a:prstGeom>
        </p:spPr>
        <p:txBody>
          <a:bodyPr anchorCtr="0" anchor="t" bIns="91425" lIns="91425" rIns="91425" tIns="91425">
            <a:noAutofit/>
          </a:bodyPr>
          <a:lstStyle/>
          <a:p>
            <a:pPr lvl="0" rtl="0">
              <a:lnSpc>
                <a:spcPct val="100000"/>
              </a:lnSpc>
              <a:spcBef>
                <a:spcPts val="0"/>
              </a:spcBef>
              <a:buNone/>
            </a:pPr>
            <a:r>
              <a:rPr b="1" lang="en" sz="1200"/>
              <a:t>All Public Forms on </a:t>
            </a:r>
            <a:r>
              <a:rPr b="1" lang="en"/>
              <a:t>womenwhocode.com/sv</a:t>
            </a:r>
          </a:p>
          <a:p>
            <a:pPr lvl="0">
              <a:lnSpc>
                <a:spcPct val="100000"/>
              </a:lnSpc>
              <a:spcBef>
                <a:spcPts val="0"/>
              </a:spcBef>
              <a:buNone/>
            </a:pPr>
            <a:r>
              <a:rPr b="1" lang="en" sz="1200"/>
              <a:t>New Corporate support</a:t>
            </a:r>
          </a:p>
          <a:p>
            <a:pPr lvl="0">
              <a:lnSpc>
                <a:spcPct val="100000"/>
              </a:lnSpc>
              <a:spcBef>
                <a:spcPts val="0"/>
              </a:spcBef>
              <a:buNone/>
            </a:pPr>
            <a:r>
              <a:rPr lang="en" sz="1200"/>
              <a:t>bit.ly/BeSponsor  </a:t>
            </a:r>
          </a:p>
          <a:p>
            <a:pPr lvl="0">
              <a:lnSpc>
                <a:spcPct val="100000"/>
              </a:lnSpc>
              <a:spcBef>
                <a:spcPts val="0"/>
              </a:spcBef>
              <a:buNone/>
            </a:pPr>
            <a:r>
              <a:rPr b="1" lang="en" sz="1200"/>
              <a:t>Membership FAQ</a:t>
            </a:r>
          </a:p>
          <a:p>
            <a:pPr lvl="0">
              <a:lnSpc>
                <a:spcPct val="100000"/>
              </a:lnSpc>
              <a:spcBef>
                <a:spcPts val="0"/>
              </a:spcBef>
              <a:buNone/>
            </a:pPr>
            <a:r>
              <a:rPr lang="en" sz="1200"/>
              <a:t>bit.ly/memberFAQ</a:t>
            </a:r>
          </a:p>
          <a:p>
            <a:pPr lvl="0">
              <a:lnSpc>
                <a:spcPct val="100000"/>
              </a:lnSpc>
              <a:spcBef>
                <a:spcPts val="0"/>
              </a:spcBef>
              <a:buNone/>
            </a:pPr>
            <a:r>
              <a:rPr b="1" lang="en" sz="1200"/>
              <a:t>In Kind Donation form </a:t>
            </a:r>
          </a:p>
          <a:p>
            <a:pPr lvl="0">
              <a:lnSpc>
                <a:spcPct val="100000"/>
              </a:lnSpc>
              <a:spcBef>
                <a:spcPts val="0"/>
              </a:spcBef>
              <a:buNone/>
            </a:pPr>
            <a:r>
              <a:rPr lang="en" sz="1200"/>
              <a:t>https://docs.google.com/forms/d/e/1FAIpQLSce72fZQwbzCtzewfsheFaHl6gKnCvqDKne27YDB8-lWez1Dw/viewform</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1" name="Shape 91"/>
        <p:cNvGrpSpPr/>
        <p:nvPr/>
      </p:nvGrpSpPr>
      <p:grpSpPr>
        <a:xfrm>
          <a:off x="0" y="0"/>
          <a:ext cx="0" cy="0"/>
          <a:chOff x="0" y="0"/>
          <a:chExt cx="0" cy="0"/>
        </a:xfrm>
      </p:grpSpPr>
      <p:sp>
        <p:nvSpPr>
          <p:cNvPr id="92" name="Shape 92"/>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Hosts Available </a:t>
            </a:r>
          </a:p>
        </p:txBody>
      </p:sp>
      <p:sp>
        <p:nvSpPr>
          <p:cNvPr id="93" name="Shape 93"/>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rPr lang="en"/>
              <a:t>Ops team is working on a workflow and notification process that will let each group know when hosts are available.   Ask all hosts/sponsors to register here: </a:t>
            </a:r>
          </a:p>
          <a:p>
            <a:pPr lvl="0">
              <a:spcBef>
                <a:spcPts val="0"/>
              </a:spcBef>
              <a:buNone/>
            </a:pPr>
            <a:r>
              <a:rPr lang="en"/>
              <a:t>(for all) bit.ly/BeSponsor</a:t>
            </a:r>
          </a:p>
          <a:p>
            <a:pPr lvl="0">
              <a:spcBef>
                <a:spcPts val="0"/>
              </a:spcBef>
              <a:buNone/>
            </a:pPr>
            <a:r>
              <a:rPr lang="en"/>
              <a:t>(for leaders) Coming:  bit.ly/HostRSVP</a:t>
            </a:r>
          </a:p>
          <a:p>
            <a:pPr lvl="0">
              <a:spcBef>
                <a:spcPts val="0"/>
              </a:spcBef>
              <a:buNone/>
            </a:pPr>
            <a:r>
              <a:rPr lang="en"/>
              <a:t>Please let us know what your workflow is so that we can take these details into account.  Contact Snehal, Guiti, and Leann.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7" name="Shape 97"/>
        <p:cNvGrpSpPr/>
        <p:nvPr/>
      </p:nvGrpSpPr>
      <p:grpSpPr>
        <a:xfrm>
          <a:off x="0" y="0"/>
          <a:ext cx="0" cy="0"/>
          <a:chOff x="0" y="0"/>
          <a:chExt cx="0" cy="0"/>
        </a:xfrm>
      </p:grpSpPr>
      <p:sp>
        <p:nvSpPr>
          <p:cNvPr id="98" name="Shape 98"/>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rPr lang="en" sz="2400"/>
              <a:t>Goals</a:t>
            </a:r>
          </a:p>
        </p:txBody>
      </p:sp>
      <p:sp>
        <p:nvSpPr>
          <p:cNvPr id="99" name="Shape 99"/>
          <p:cNvSpPr txBox="1"/>
          <p:nvPr>
            <p:ph idx="1" type="body"/>
          </p:nvPr>
        </p:nvSpPr>
        <p:spPr>
          <a:xfrm>
            <a:off x="311700" y="920450"/>
            <a:ext cx="8520600" cy="3416400"/>
          </a:xfrm>
          <a:prstGeom prst="rect">
            <a:avLst/>
          </a:prstGeom>
        </p:spPr>
        <p:txBody>
          <a:bodyPr anchorCtr="0" anchor="t" bIns="91425" lIns="91425" rIns="91425" tIns="91425">
            <a:noAutofit/>
          </a:bodyPr>
          <a:lstStyle/>
          <a:p>
            <a:pPr lvl="0" rtl="0">
              <a:lnSpc>
                <a:spcPct val="100000"/>
              </a:lnSpc>
              <a:spcBef>
                <a:spcPts val="0"/>
              </a:spcBef>
              <a:buNone/>
            </a:pPr>
            <a:r>
              <a:rPr lang="en" sz="1200"/>
              <a:t>Membership : Reach 5000</a:t>
            </a:r>
          </a:p>
          <a:p>
            <a:pPr lvl="0" rtl="0">
              <a:lnSpc>
                <a:spcPct val="100000"/>
              </a:lnSpc>
              <a:spcBef>
                <a:spcPts val="0"/>
              </a:spcBef>
              <a:buNone/>
            </a:pPr>
            <a:r>
              <a:rPr lang="en" sz="1200"/>
              <a:t>Events in 2017: 200</a:t>
            </a:r>
          </a:p>
          <a:p>
            <a:pPr lvl="0" rtl="0">
              <a:lnSpc>
                <a:spcPct val="100000"/>
              </a:lnSpc>
              <a:spcBef>
                <a:spcPts val="0"/>
              </a:spcBef>
              <a:buNone/>
            </a:pPr>
            <a:r>
              <a:rPr lang="en" sz="1200"/>
              <a:t>New Sponsors/Hosts:  10</a:t>
            </a:r>
          </a:p>
          <a:p>
            <a:pPr lvl="0" rtl="0">
              <a:lnSpc>
                <a:spcPct val="100000"/>
              </a:lnSpc>
              <a:spcBef>
                <a:spcPts val="0"/>
              </a:spcBef>
              <a:buNone/>
            </a:pPr>
            <a:r>
              <a:rPr lang="en" sz="1200"/>
              <a:t>Funds Raised: $10,000 (mostly for next Hackathon),  in-kind(?), anything else(?)</a:t>
            </a:r>
          </a:p>
          <a:p>
            <a:pPr lvl="0" rtl="0">
              <a:lnSpc>
                <a:spcPct val="100000"/>
              </a:lnSpc>
              <a:spcBef>
                <a:spcPts val="0"/>
              </a:spcBef>
              <a:buNone/>
            </a:pPr>
            <a:r>
              <a:rPr lang="en" sz="1200"/>
              <a:t>Events (location) </a:t>
            </a:r>
          </a:p>
          <a:p>
            <a:pPr indent="0" lvl="0" marL="457200" rtl="0">
              <a:lnSpc>
                <a:spcPct val="100000"/>
              </a:lnSpc>
              <a:spcBef>
                <a:spcPts val="0"/>
              </a:spcBef>
              <a:spcAft>
                <a:spcPts val="1000"/>
              </a:spcAft>
              <a:buNone/>
            </a:pPr>
            <a:r>
              <a:rPr lang="en" sz="1200"/>
              <a:t>Monthly iOS seminars (?)</a:t>
            </a:r>
          </a:p>
          <a:p>
            <a:pPr indent="0" lvl="0" marL="457200" rtl="0">
              <a:lnSpc>
                <a:spcPct val="100000"/>
              </a:lnSpc>
              <a:spcBef>
                <a:spcPts val="0"/>
              </a:spcBef>
              <a:spcAft>
                <a:spcPts val="1000"/>
              </a:spcAft>
              <a:buNone/>
            </a:pPr>
            <a:r>
              <a:rPr lang="en" sz="1200"/>
              <a:t>Monthly Data Science seminars?  (?)</a:t>
            </a:r>
          </a:p>
          <a:p>
            <a:pPr indent="0" lvl="0" marL="457200" rtl="0">
              <a:lnSpc>
                <a:spcPct val="100000"/>
              </a:lnSpc>
              <a:spcBef>
                <a:spcPts val="0"/>
              </a:spcBef>
              <a:spcAft>
                <a:spcPts val="1000"/>
              </a:spcAft>
              <a:buNone/>
            </a:pPr>
            <a:r>
              <a:rPr lang="en" sz="1200"/>
              <a:t>Monthly Ruby seminars  (at Northwestern)</a:t>
            </a:r>
          </a:p>
          <a:p>
            <a:pPr indent="0" lvl="0" marL="457200" rtl="0">
              <a:lnSpc>
                <a:spcPct val="100000"/>
              </a:lnSpc>
              <a:spcBef>
                <a:spcPts val="0"/>
              </a:spcBef>
              <a:spcAft>
                <a:spcPts val="1000"/>
              </a:spcAft>
              <a:buNone/>
            </a:pPr>
            <a:r>
              <a:rPr lang="en" sz="1200"/>
              <a:t>Bi-monthly Venture Hack Club (?)</a:t>
            </a:r>
          </a:p>
          <a:p>
            <a:pPr indent="0" lvl="0" marL="457200" rtl="0">
              <a:lnSpc>
                <a:spcPct val="100000"/>
              </a:lnSpc>
              <a:spcBef>
                <a:spcPts val="0"/>
              </a:spcBef>
              <a:spcAft>
                <a:spcPts val="1000"/>
              </a:spcAft>
              <a:buNone/>
            </a:pPr>
            <a:r>
              <a:rPr lang="en" sz="1200"/>
              <a:t>Bi-monthly Career Hack Club (?)</a:t>
            </a:r>
          </a:p>
          <a:p>
            <a:pPr indent="0" lvl="0" marL="457200" rtl="0">
              <a:lnSpc>
                <a:spcPct val="100000"/>
              </a:lnSpc>
              <a:spcBef>
                <a:spcPts val="0"/>
              </a:spcBef>
              <a:spcAft>
                <a:spcPts val="1000"/>
              </a:spcAft>
              <a:buNone/>
            </a:pPr>
            <a:r>
              <a:rPr lang="en" sz="1200"/>
              <a:t>Hackathon (Aug)</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3" name="Shape 103"/>
        <p:cNvGrpSpPr/>
        <p:nvPr/>
      </p:nvGrpSpPr>
      <p:grpSpPr>
        <a:xfrm>
          <a:off x="0" y="0"/>
          <a:ext cx="0" cy="0"/>
          <a:chOff x="0" y="0"/>
          <a:chExt cx="0" cy="0"/>
        </a:xfrm>
      </p:grpSpPr>
      <p:sp>
        <p:nvSpPr>
          <p:cNvPr id="104" name="Shape 104"/>
          <p:cNvSpPr txBox="1"/>
          <p:nvPr>
            <p:ph type="title"/>
          </p:nvPr>
        </p:nvSpPr>
        <p:spPr>
          <a:xfrm>
            <a:off x="311700" y="445025"/>
            <a:ext cx="8520600" cy="572700"/>
          </a:xfrm>
          <a:prstGeom prst="rect">
            <a:avLst/>
          </a:prstGeom>
        </p:spPr>
        <p:txBody>
          <a:bodyPr anchorCtr="0" anchor="t" bIns="91425" lIns="91425" rIns="91425" tIns="91425">
            <a:noAutofit/>
          </a:bodyPr>
          <a:lstStyle/>
          <a:p>
            <a:pPr lvl="0" rtl="0">
              <a:spcBef>
                <a:spcPts val="0"/>
              </a:spcBef>
              <a:buNone/>
            </a:pPr>
            <a:r>
              <a:rPr lang="en" sz="6000"/>
              <a:t>Misc News</a:t>
            </a:r>
          </a:p>
        </p:txBody>
      </p:sp>
      <p:sp>
        <p:nvSpPr>
          <p:cNvPr id="105" name="Shape 105"/>
          <p:cNvSpPr txBox="1"/>
          <p:nvPr>
            <p:ph idx="1" type="body"/>
          </p:nvPr>
        </p:nvSpPr>
        <p:spPr>
          <a:xfrm>
            <a:off x="311700" y="1152475"/>
            <a:ext cx="8520600" cy="3416400"/>
          </a:xfrm>
          <a:prstGeom prst="rect">
            <a:avLst/>
          </a:prstGeom>
        </p:spPr>
        <p:txBody>
          <a:bodyPr anchorCtr="0" anchor="t" bIns="91425" lIns="91425" rIns="91425" tIns="91425">
            <a:noAutofit/>
          </a:bodyPr>
          <a:lstStyle/>
          <a:p>
            <a:pPr lvl="0" rtl="0">
              <a:lnSpc>
                <a:spcPct val="100000"/>
              </a:lnSpc>
              <a:spcBef>
                <a:spcPts val="0"/>
              </a:spcBef>
              <a:buNone/>
            </a:pPr>
            <a:r>
              <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9" name="Shape 109"/>
        <p:cNvGrpSpPr/>
        <p:nvPr/>
      </p:nvGrpSpPr>
      <p:grpSpPr>
        <a:xfrm>
          <a:off x="0" y="0"/>
          <a:ext cx="0" cy="0"/>
          <a:chOff x="0" y="0"/>
          <a:chExt cx="0" cy="0"/>
        </a:xfrm>
      </p:grpSpPr>
      <p:sp>
        <p:nvSpPr>
          <p:cNvPr id="110" name="Shape 110"/>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Hackathon Updates</a:t>
            </a:r>
          </a:p>
        </p:txBody>
      </p:sp>
      <p:sp>
        <p:nvSpPr>
          <p:cNvPr id="111" name="Shape 111"/>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rPr lang="en"/>
              <a:t>200 registered</a:t>
            </a:r>
          </a:p>
          <a:p>
            <a:pPr lvl="0">
              <a:spcBef>
                <a:spcPts val="0"/>
              </a:spcBef>
              <a:buNone/>
            </a:pPr>
            <a:r>
              <a:rPr lang="en"/>
              <a:t>200 on wait-list</a:t>
            </a:r>
          </a:p>
          <a:p>
            <a:pPr lvl="0">
              <a:spcBef>
                <a:spcPts val="0"/>
              </a:spcBef>
              <a:buNone/>
            </a:pPr>
            <a:r>
              <a:rPr lang="en"/>
              <a:t>Approximately 100 showed up (our usual FREE event challenges)</a:t>
            </a:r>
          </a:p>
          <a:p>
            <a:pPr lvl="0">
              <a:spcBef>
                <a:spcPts val="0"/>
              </a:spcBef>
              <a:buNone/>
            </a:pPr>
            <a:r>
              <a:rPr lang="en"/>
              <a:t>Raised over $5500 and giveaways</a:t>
            </a:r>
          </a:p>
          <a:p>
            <a:pPr lvl="0">
              <a:spcBef>
                <a:spcPts val="0"/>
              </a:spcBef>
              <a:buNone/>
            </a:pPr>
            <a:r>
              <a:rPr lang="en"/>
              <a:t>Fab Team: Guiti Nabavi, Kerry Rosado, Bindu Mohan, Bharti Kripalani, Leann Pereira</a:t>
            </a:r>
          </a:p>
          <a:p>
            <a:pPr lvl="0">
              <a:spcBef>
                <a:spcPts val="0"/>
              </a:spcBef>
              <a:buNone/>
            </a:pPr>
            <a:r>
              <a:rPr lang="en"/>
              <a:t>Checkout all the videos and pictures on facebook page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5" name="Shape 115"/>
        <p:cNvGrpSpPr/>
        <p:nvPr/>
      </p:nvGrpSpPr>
      <p:grpSpPr>
        <a:xfrm>
          <a:off x="0" y="0"/>
          <a:ext cx="0" cy="0"/>
          <a:chOff x="0" y="0"/>
          <a:chExt cx="0" cy="0"/>
        </a:xfrm>
      </p:grpSpPr>
      <p:pic>
        <p:nvPicPr>
          <p:cNvPr descr="Image result for interview tv" id="116" name="Shape 116"/>
          <p:cNvPicPr preferRelativeResize="0"/>
          <p:nvPr/>
        </p:nvPicPr>
        <p:blipFill>
          <a:blip r:embed="rId3">
            <a:alphaModFix/>
          </a:blip>
          <a:stretch>
            <a:fillRect/>
          </a:stretch>
        </p:blipFill>
        <p:spPr>
          <a:xfrm>
            <a:off x="161600" y="1309650"/>
            <a:ext cx="4283175" cy="2842000"/>
          </a:xfrm>
          <a:prstGeom prst="rect">
            <a:avLst/>
          </a:prstGeom>
          <a:noFill/>
          <a:ln>
            <a:noFill/>
          </a:ln>
        </p:spPr>
      </p:pic>
      <p:sp>
        <p:nvSpPr>
          <p:cNvPr id="117" name="Shape 117"/>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WWCode Blog Interview</a:t>
            </a:r>
          </a:p>
        </p:txBody>
      </p:sp>
      <p:sp>
        <p:nvSpPr>
          <p:cNvPr id="118" name="Shape 118"/>
          <p:cNvSpPr txBox="1"/>
          <p:nvPr>
            <p:ph idx="1" type="body"/>
          </p:nvPr>
        </p:nvSpPr>
        <p:spPr>
          <a:xfrm>
            <a:off x="4533900" y="1120325"/>
            <a:ext cx="4610100" cy="3416400"/>
          </a:xfrm>
          <a:prstGeom prst="rect">
            <a:avLst/>
          </a:prstGeom>
        </p:spPr>
        <p:txBody>
          <a:bodyPr anchorCtr="0" anchor="t" bIns="91425" lIns="91425" rIns="91425" tIns="91425">
            <a:noAutofit/>
          </a:bodyPr>
          <a:lstStyle/>
          <a:p>
            <a:pPr lvl="0">
              <a:spcBef>
                <a:spcPts val="0"/>
              </a:spcBef>
              <a:buNone/>
            </a:pPr>
            <a:r>
              <a:rPr lang="en"/>
              <a:t>Please fill out the interview form to be featured on the blog! http://tiny.cc/WWCodeInterview</a:t>
            </a:r>
          </a:p>
          <a:p>
            <a:pPr lvl="0">
              <a:spcBef>
                <a:spcPts val="0"/>
              </a:spcBef>
              <a:buNone/>
            </a:pPr>
            <a:r>
              <a:rPr lang="en"/>
              <a:t>We want to feature all Directors and leaders! Also, please pass the link to senior engineers in your community and anyone who WWCode has really helped. If you were already featured on the blog you don't have to fill it out again.</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2" name="Shape 122"/>
        <p:cNvGrpSpPr/>
        <p:nvPr/>
      </p:nvGrpSpPr>
      <p:grpSpPr>
        <a:xfrm>
          <a:off x="0" y="0"/>
          <a:ext cx="0" cy="0"/>
          <a:chOff x="0" y="0"/>
          <a:chExt cx="0" cy="0"/>
        </a:xfrm>
      </p:grpSpPr>
      <p:sp>
        <p:nvSpPr>
          <p:cNvPr id="123" name="Shape 123"/>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Applaud her</a:t>
            </a:r>
          </a:p>
        </p:txBody>
      </p:sp>
      <p:sp>
        <p:nvSpPr>
          <p:cNvPr id="124" name="Shape 124"/>
          <p:cNvSpPr txBox="1"/>
          <p:nvPr>
            <p:ph idx="1" type="body"/>
          </p:nvPr>
        </p:nvSpPr>
        <p:spPr>
          <a:xfrm>
            <a:off x="3953475" y="1152475"/>
            <a:ext cx="4878900" cy="3416400"/>
          </a:xfrm>
          <a:prstGeom prst="rect">
            <a:avLst/>
          </a:prstGeom>
        </p:spPr>
        <p:txBody>
          <a:bodyPr anchorCtr="0" anchor="t" bIns="91425" lIns="91425" rIns="91425" tIns="91425">
            <a:noAutofit/>
          </a:bodyPr>
          <a:lstStyle/>
          <a:p>
            <a:pPr lvl="0">
              <a:spcBef>
                <a:spcPts val="0"/>
              </a:spcBef>
              <a:buNone/>
            </a:pPr>
            <a:r>
              <a:rPr lang="en"/>
              <a:t>Want to submit an #applaud-her? </a:t>
            </a:r>
          </a:p>
          <a:p>
            <a:pPr lvl="0">
              <a:spcBef>
                <a:spcPts val="0"/>
              </a:spcBef>
              <a:buNone/>
            </a:pPr>
            <a:r>
              <a:rPr lang="en"/>
              <a:t>Use this form: http://tiny.cc/WWCodeApplaudHer</a:t>
            </a:r>
          </a:p>
        </p:txBody>
      </p:sp>
      <p:pic>
        <p:nvPicPr>
          <p:cNvPr descr="Image result for Applaud" id="125" name="Shape 125"/>
          <p:cNvPicPr preferRelativeResize="0"/>
          <p:nvPr/>
        </p:nvPicPr>
        <p:blipFill>
          <a:blip r:embed="rId3">
            <a:alphaModFix/>
          </a:blip>
          <a:stretch>
            <a:fillRect/>
          </a:stretch>
        </p:blipFill>
        <p:spPr>
          <a:xfrm>
            <a:off x="386850" y="1222375"/>
            <a:ext cx="3175000" cy="3276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9" name="Shape 129"/>
        <p:cNvGrpSpPr/>
        <p:nvPr/>
      </p:nvGrpSpPr>
      <p:grpSpPr>
        <a:xfrm>
          <a:off x="0" y="0"/>
          <a:ext cx="0" cy="0"/>
          <a:chOff x="0" y="0"/>
          <a:chExt cx="0" cy="0"/>
        </a:xfrm>
      </p:grpSpPr>
      <p:sp>
        <p:nvSpPr>
          <p:cNvPr id="130" name="Shape 130"/>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Upcoming events </a:t>
            </a:r>
          </a:p>
        </p:txBody>
      </p:sp>
      <p:sp>
        <p:nvSpPr>
          <p:cNvPr id="131" name="Shape 131"/>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t/>
            </a:r>
            <a:endParaRPr/>
          </a:p>
        </p:txBody>
      </p:sp>
      <p:pic>
        <p:nvPicPr>
          <p:cNvPr descr="Image result for events" id="132" name="Shape 132"/>
          <p:cNvPicPr preferRelativeResize="0"/>
          <p:nvPr/>
        </p:nvPicPr>
        <p:blipFill>
          <a:blip r:embed="rId3">
            <a:alphaModFix/>
          </a:blip>
          <a:stretch>
            <a:fillRect/>
          </a:stretch>
        </p:blipFill>
        <p:spPr>
          <a:xfrm>
            <a:off x="0" y="0"/>
            <a:ext cx="9144000" cy="5143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6" name="Shape 136"/>
        <p:cNvGrpSpPr/>
        <p:nvPr/>
      </p:nvGrpSpPr>
      <p:grpSpPr>
        <a:xfrm>
          <a:off x="0" y="0"/>
          <a:ext cx="0" cy="0"/>
          <a:chOff x="0" y="0"/>
          <a:chExt cx="0" cy="0"/>
        </a:xfrm>
      </p:grpSpPr>
      <p:sp>
        <p:nvSpPr>
          <p:cNvPr id="137" name="Shape 137"/>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Professional Development Team</a:t>
            </a:r>
          </a:p>
        </p:txBody>
      </p:sp>
      <p:sp>
        <p:nvSpPr>
          <p:cNvPr id="138" name="Shape 138"/>
          <p:cNvSpPr txBox="1"/>
          <p:nvPr>
            <p:ph idx="1" type="body"/>
          </p:nvPr>
        </p:nvSpPr>
        <p:spPr>
          <a:xfrm>
            <a:off x="311700" y="1152475"/>
            <a:ext cx="8520600" cy="3416400"/>
          </a:xfrm>
          <a:prstGeom prst="rect">
            <a:avLst/>
          </a:prstGeom>
        </p:spPr>
        <p:txBody>
          <a:bodyPr anchorCtr="0" anchor="t" bIns="91425" lIns="91425" rIns="91425" tIns="91425">
            <a:noAutofit/>
          </a:bodyPr>
          <a:lstStyle/>
          <a:p>
            <a:pPr lvl="0">
              <a:spcBef>
                <a:spcPts val="0"/>
              </a:spcBef>
              <a:buNone/>
            </a:pPr>
            <a:r>
              <a:rPr lang="en"/>
              <a:t>Introducing our newest member, Cheryl Warner.</a:t>
            </a:r>
          </a:p>
          <a:p>
            <a:pPr lvl="0">
              <a:spcBef>
                <a:spcPts val="0"/>
              </a:spcBef>
              <a:buNone/>
            </a:pPr>
            <a:r>
              <a:rPr lang="en"/>
              <a:t>Cheryl will provide an overview of next year’s program.</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2" name="Shape 142"/>
        <p:cNvGrpSpPr/>
        <p:nvPr/>
      </p:nvGrpSpPr>
      <p:grpSpPr>
        <a:xfrm>
          <a:off x="0" y="0"/>
          <a:ext cx="0" cy="0"/>
          <a:chOff x="0" y="0"/>
          <a:chExt cx="0" cy="0"/>
        </a:xfrm>
      </p:grpSpPr>
      <p:sp>
        <p:nvSpPr>
          <p:cNvPr id="143" name="Shape 143"/>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t>iOS Q1-Q2 2017</a:t>
            </a:r>
          </a:p>
        </p:txBody>
      </p:sp>
      <p:sp>
        <p:nvSpPr>
          <p:cNvPr id="144" name="Shape 144"/>
          <p:cNvSpPr txBox="1"/>
          <p:nvPr>
            <p:ph idx="1" type="body"/>
          </p:nvPr>
        </p:nvSpPr>
        <p:spPr>
          <a:xfrm>
            <a:off x="311700" y="1152475"/>
            <a:ext cx="8520600" cy="3416400"/>
          </a:xfrm>
          <a:prstGeom prst="rect">
            <a:avLst/>
          </a:prstGeom>
          <a:ln cap="flat" cmpd="sng" w="9525">
            <a:solidFill>
              <a:srgbClr val="FFFFFF"/>
            </a:solidFill>
            <a:prstDash val="solid"/>
            <a:round/>
            <a:headEnd len="med" w="med" type="none"/>
            <a:tailEnd len="med" w="med" type="none"/>
          </a:ln>
        </p:spPr>
        <p:txBody>
          <a:bodyPr anchorCtr="0" anchor="t" bIns="91425" lIns="91425" rIns="91425" tIns="91425">
            <a:noAutofit/>
          </a:bodyPr>
          <a:lstStyle/>
          <a:p>
            <a:pPr indent="-342900" lvl="0" marL="457200">
              <a:lnSpc>
                <a:spcPct val="100000"/>
              </a:lnSpc>
              <a:spcBef>
                <a:spcPts val="0"/>
              </a:spcBef>
              <a:spcAft>
                <a:spcPts val="0"/>
              </a:spcAft>
              <a:buClr>
                <a:srgbClr val="000000"/>
              </a:buClr>
              <a:buSzPct val="100000"/>
              <a:buChar char="●"/>
            </a:pPr>
            <a:r>
              <a:rPr lang="en">
                <a:solidFill>
                  <a:srgbClr val="000000"/>
                </a:solidFill>
              </a:rPr>
              <a:t>Women In Tech Night at Groupon (Q1)</a:t>
            </a:r>
          </a:p>
          <a:p>
            <a:pPr indent="-342900" lvl="1" marL="914400">
              <a:lnSpc>
                <a:spcPct val="100000"/>
              </a:lnSpc>
              <a:spcBef>
                <a:spcPts val="0"/>
              </a:spcBef>
              <a:spcAft>
                <a:spcPts val="0"/>
              </a:spcAft>
              <a:buClr>
                <a:srgbClr val="000000"/>
              </a:buClr>
              <a:buSzPct val="100000"/>
              <a:buChar char="○"/>
            </a:pPr>
            <a:r>
              <a:rPr lang="en" sz="1800">
                <a:solidFill>
                  <a:srgbClr val="000000"/>
                </a:solidFill>
              </a:rPr>
              <a:t>General WWC event (iOS is coordinating) </a:t>
            </a:r>
          </a:p>
          <a:p>
            <a:pPr indent="0" lvl="0" marL="457200">
              <a:lnSpc>
                <a:spcPct val="100000"/>
              </a:lnSpc>
              <a:spcBef>
                <a:spcPts val="0"/>
              </a:spcBef>
              <a:spcAft>
                <a:spcPts val="0"/>
              </a:spcAft>
              <a:buNone/>
            </a:pPr>
            <a:r>
              <a:t/>
            </a:r>
            <a:endParaRPr>
              <a:solidFill>
                <a:srgbClr val="000000"/>
              </a:solidFill>
            </a:endParaRPr>
          </a:p>
          <a:p>
            <a:pPr indent="-342900" lvl="0" marL="457200">
              <a:lnSpc>
                <a:spcPct val="100000"/>
              </a:lnSpc>
              <a:spcBef>
                <a:spcPts val="0"/>
              </a:spcBef>
              <a:spcAft>
                <a:spcPts val="0"/>
              </a:spcAft>
              <a:buClr>
                <a:srgbClr val="000000"/>
              </a:buClr>
              <a:buSzPct val="100000"/>
              <a:buChar char="●"/>
            </a:pPr>
            <a:r>
              <a:rPr lang="en">
                <a:solidFill>
                  <a:srgbClr val="000000"/>
                </a:solidFill>
              </a:rPr>
              <a:t>Partnership with Palo Alto iOS Meetup</a:t>
            </a:r>
          </a:p>
          <a:p>
            <a:pPr indent="-342900" lvl="1" marL="914400">
              <a:lnSpc>
                <a:spcPct val="100000"/>
              </a:lnSpc>
              <a:spcBef>
                <a:spcPts val="0"/>
              </a:spcBef>
              <a:spcAft>
                <a:spcPts val="0"/>
              </a:spcAft>
              <a:buClr>
                <a:srgbClr val="000000"/>
              </a:buClr>
              <a:buSzPct val="100000"/>
              <a:buChar char="○"/>
            </a:pPr>
            <a:r>
              <a:rPr lang="en" sz="1800">
                <a:solidFill>
                  <a:srgbClr val="000000"/>
                </a:solidFill>
              </a:rPr>
              <a:t>Increase participation by co-organizing the event</a:t>
            </a:r>
          </a:p>
          <a:p>
            <a:pPr indent="0" lvl="0" marL="457200">
              <a:lnSpc>
                <a:spcPct val="100000"/>
              </a:lnSpc>
              <a:spcBef>
                <a:spcPts val="0"/>
              </a:spcBef>
              <a:spcAft>
                <a:spcPts val="0"/>
              </a:spcAft>
              <a:buNone/>
            </a:pPr>
            <a:r>
              <a:t/>
            </a:r>
            <a:endParaRPr>
              <a:solidFill>
                <a:srgbClr val="000000"/>
              </a:solidFill>
            </a:endParaRPr>
          </a:p>
          <a:p>
            <a:pPr indent="-342900" lvl="0" marL="457200">
              <a:lnSpc>
                <a:spcPct val="100000"/>
              </a:lnSpc>
              <a:spcBef>
                <a:spcPts val="0"/>
              </a:spcBef>
              <a:spcAft>
                <a:spcPts val="0"/>
              </a:spcAft>
              <a:buClr>
                <a:srgbClr val="000000"/>
              </a:buClr>
              <a:buSzPct val="100000"/>
              <a:buChar char="●"/>
            </a:pPr>
            <a:r>
              <a:rPr lang="en">
                <a:solidFill>
                  <a:srgbClr val="000000"/>
                </a:solidFill>
              </a:rPr>
              <a:t>Monthly iOS Tech Talk</a:t>
            </a:r>
          </a:p>
          <a:p>
            <a:pPr indent="-342900" lvl="1" marL="914400">
              <a:lnSpc>
                <a:spcPct val="100000"/>
              </a:lnSpc>
              <a:spcBef>
                <a:spcPts val="0"/>
              </a:spcBef>
              <a:spcAft>
                <a:spcPts val="0"/>
              </a:spcAft>
              <a:buClr>
                <a:srgbClr val="000000"/>
              </a:buClr>
              <a:buSzPct val="100000"/>
              <a:buChar char="○"/>
            </a:pPr>
            <a:r>
              <a:rPr lang="en" sz="1800">
                <a:solidFill>
                  <a:srgbClr val="000000"/>
                </a:solidFill>
              </a:rPr>
              <a:t>Speakers: Snehal, Ampy, Manjula, Shirly, Diana</a:t>
            </a:r>
          </a:p>
          <a:p>
            <a:pPr indent="-342900" lvl="1" marL="914400">
              <a:lnSpc>
                <a:spcPct val="100000"/>
              </a:lnSpc>
              <a:spcBef>
                <a:spcPts val="0"/>
              </a:spcBef>
              <a:spcAft>
                <a:spcPts val="0"/>
              </a:spcAft>
              <a:buClr>
                <a:srgbClr val="000000"/>
              </a:buClr>
              <a:buSzPct val="100000"/>
              <a:buChar char="○"/>
            </a:pPr>
            <a:r>
              <a:rPr lang="en" sz="1800">
                <a:solidFill>
                  <a:srgbClr val="000000"/>
                </a:solidFill>
              </a:rPr>
              <a:t>Find out if we can host talk at different mobile front runner companies.</a:t>
            </a:r>
          </a:p>
          <a:p>
            <a:pPr indent="-342900" lvl="1" marL="914400">
              <a:lnSpc>
                <a:spcPct val="100000"/>
              </a:lnSpc>
              <a:spcBef>
                <a:spcPts val="0"/>
              </a:spcBef>
              <a:spcAft>
                <a:spcPts val="0"/>
              </a:spcAft>
              <a:buClr>
                <a:srgbClr val="000000"/>
              </a:buClr>
              <a:buSzPct val="100000"/>
              <a:buChar char="○"/>
            </a:pPr>
            <a:r>
              <a:rPr lang="en" sz="1800">
                <a:solidFill>
                  <a:srgbClr val="000000"/>
                </a:solidFill>
              </a:rPr>
              <a:t>Prashanthi and Madhuri to join in Q3-4</a:t>
            </a:r>
          </a:p>
          <a:p>
            <a:pPr indent="-342900" lvl="1" marL="914400">
              <a:lnSpc>
                <a:spcPct val="100000"/>
              </a:lnSpc>
              <a:spcBef>
                <a:spcPts val="0"/>
              </a:spcBef>
              <a:spcAft>
                <a:spcPts val="0"/>
              </a:spcAft>
              <a:buClr>
                <a:srgbClr val="000000"/>
              </a:buClr>
              <a:buSzPct val="100000"/>
              <a:buChar char="○"/>
            </a:pPr>
            <a:r>
              <a:rPr lang="en" sz="1800">
                <a:solidFill>
                  <a:srgbClr val="000000"/>
                </a:solidFill>
              </a:rPr>
              <a:t>Host - TBD</a:t>
            </a:r>
          </a:p>
          <a:p>
            <a:pPr lvl="0">
              <a:spcBef>
                <a:spcPts val="0"/>
              </a:spcBef>
              <a:buNone/>
            </a:pPr>
            <a:r>
              <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8" name="Shape 148"/>
        <p:cNvGrpSpPr/>
        <p:nvPr/>
      </p:nvGrpSpPr>
      <p:grpSpPr>
        <a:xfrm>
          <a:off x="0" y="0"/>
          <a:ext cx="0" cy="0"/>
          <a:chOff x="0" y="0"/>
          <a:chExt cx="0" cy="0"/>
        </a:xfrm>
      </p:grpSpPr>
      <p:sp>
        <p:nvSpPr>
          <p:cNvPr id="149" name="Shape 149"/>
          <p:cNvSpPr txBox="1"/>
          <p:nvPr>
            <p:ph type="title"/>
          </p:nvPr>
        </p:nvSpPr>
        <p:spPr>
          <a:xfrm>
            <a:off x="311700" y="445025"/>
            <a:ext cx="8520600" cy="572700"/>
          </a:xfrm>
          <a:prstGeom prst="rect">
            <a:avLst/>
          </a:prstGeom>
        </p:spPr>
        <p:txBody>
          <a:bodyPr anchorCtr="0" anchor="t" bIns="91425" lIns="91425" rIns="91425" tIns="91425">
            <a:noAutofit/>
          </a:bodyPr>
          <a:lstStyle/>
          <a:p>
            <a:pPr lvl="0">
              <a:spcBef>
                <a:spcPts val="0"/>
              </a:spcBef>
              <a:buNone/>
            </a:pPr>
            <a:r>
              <a:rPr lang="en">
                <a:solidFill>
                  <a:srgbClr val="000000"/>
                </a:solidFill>
              </a:rPr>
              <a:t>iOS Tech Talk topics Suggestions</a:t>
            </a:r>
          </a:p>
          <a:p>
            <a:pPr lvl="0">
              <a:spcBef>
                <a:spcPts val="0"/>
              </a:spcBef>
              <a:buNone/>
            </a:pPr>
            <a:r>
              <a:t/>
            </a:r>
            <a:endParaRPr/>
          </a:p>
        </p:txBody>
      </p:sp>
      <p:sp>
        <p:nvSpPr>
          <p:cNvPr id="150" name="Shape 150"/>
          <p:cNvSpPr txBox="1"/>
          <p:nvPr>
            <p:ph idx="1" type="body"/>
          </p:nvPr>
        </p:nvSpPr>
        <p:spPr>
          <a:xfrm>
            <a:off x="311700" y="1152475"/>
            <a:ext cx="8520600" cy="3416400"/>
          </a:xfrm>
          <a:prstGeom prst="rect">
            <a:avLst/>
          </a:prstGeom>
        </p:spPr>
        <p:txBody>
          <a:bodyPr anchorCtr="0" anchor="t" bIns="91425" lIns="91425" rIns="91425" tIns="91425">
            <a:noAutofit/>
          </a:bodyPr>
          <a:lstStyle/>
          <a:p>
            <a:pPr indent="-228600" lvl="0" marL="457200">
              <a:lnSpc>
                <a:spcPct val="100000"/>
              </a:lnSpc>
              <a:spcBef>
                <a:spcPts val="0"/>
              </a:spcBef>
              <a:buClr>
                <a:srgbClr val="000000"/>
              </a:buClr>
            </a:pPr>
            <a:r>
              <a:rPr lang="en">
                <a:solidFill>
                  <a:srgbClr val="000000"/>
                </a:solidFill>
              </a:rPr>
              <a:t>iOS SDK best practices</a:t>
            </a:r>
          </a:p>
          <a:p>
            <a:pPr indent="-228600" lvl="0" marL="457200">
              <a:lnSpc>
                <a:spcPct val="100000"/>
              </a:lnSpc>
              <a:spcBef>
                <a:spcPts val="0"/>
              </a:spcBef>
              <a:buClr>
                <a:srgbClr val="000000"/>
              </a:buClr>
            </a:pPr>
            <a:r>
              <a:rPr lang="en">
                <a:solidFill>
                  <a:srgbClr val="000000"/>
                </a:solidFill>
              </a:rPr>
              <a:t>Design Patterns in iOS (MVVM specifically)</a:t>
            </a:r>
          </a:p>
          <a:p>
            <a:pPr indent="-228600" lvl="0" marL="457200">
              <a:lnSpc>
                <a:spcPct val="100000"/>
              </a:lnSpc>
              <a:spcBef>
                <a:spcPts val="0"/>
              </a:spcBef>
              <a:buClr>
                <a:srgbClr val="000000"/>
              </a:buClr>
            </a:pPr>
            <a:r>
              <a:rPr lang="en">
                <a:solidFill>
                  <a:srgbClr val="000000"/>
                </a:solidFill>
              </a:rPr>
              <a:t>NSNotifications </a:t>
            </a:r>
          </a:p>
          <a:p>
            <a:pPr indent="-228600" lvl="0" marL="457200">
              <a:lnSpc>
                <a:spcPct val="100000"/>
              </a:lnSpc>
              <a:spcBef>
                <a:spcPts val="0"/>
              </a:spcBef>
              <a:buClr>
                <a:srgbClr val="000000"/>
              </a:buClr>
            </a:pPr>
            <a:r>
              <a:rPr lang="en">
                <a:solidFill>
                  <a:srgbClr val="000000"/>
                </a:solidFill>
              </a:rPr>
              <a:t>Swift Protocols or any topic in swift</a:t>
            </a:r>
          </a:p>
          <a:p>
            <a:pPr indent="-228600" lvl="0" marL="457200">
              <a:lnSpc>
                <a:spcPct val="100000"/>
              </a:lnSpc>
              <a:spcBef>
                <a:spcPts val="0"/>
              </a:spcBef>
              <a:buClr>
                <a:srgbClr val="000000"/>
              </a:buClr>
            </a:pPr>
            <a:r>
              <a:rPr lang="en">
                <a:solidFill>
                  <a:srgbClr val="000000"/>
                </a:solidFill>
              </a:rPr>
              <a:t>Multithreading in iOS</a:t>
            </a:r>
          </a:p>
          <a:p>
            <a:pPr indent="-228600" lvl="0" marL="457200">
              <a:lnSpc>
                <a:spcPct val="100000"/>
              </a:lnSpc>
              <a:spcBef>
                <a:spcPts val="0"/>
              </a:spcBef>
              <a:buClr>
                <a:srgbClr val="000000"/>
              </a:buClr>
            </a:pPr>
            <a:r>
              <a:rPr lang="en">
                <a:solidFill>
                  <a:srgbClr val="000000"/>
                </a:solidFill>
              </a:rPr>
              <a:t>How to check performance of the iOS application - talk on instruments or any third party tool to measure performance.</a:t>
            </a:r>
          </a:p>
          <a:p>
            <a:pPr indent="-228600" lvl="0" marL="457200">
              <a:lnSpc>
                <a:spcPct val="100000"/>
              </a:lnSpc>
              <a:spcBef>
                <a:spcPts val="0"/>
              </a:spcBef>
              <a:buClr>
                <a:srgbClr val="000000"/>
              </a:buClr>
            </a:pPr>
            <a:r>
              <a:rPr lang="en">
                <a:solidFill>
                  <a:srgbClr val="000000"/>
                </a:solidFill>
              </a:rPr>
              <a:t>Testing in iOS - OCMock.. etc other frameworks</a:t>
            </a:r>
          </a:p>
          <a:p>
            <a:pPr indent="-228600" lvl="0" marL="457200">
              <a:lnSpc>
                <a:spcPct val="100000"/>
              </a:lnSpc>
              <a:spcBef>
                <a:spcPts val="0"/>
              </a:spcBef>
              <a:buClr>
                <a:srgbClr val="000000"/>
              </a:buClr>
            </a:pPr>
            <a:r>
              <a:rPr lang="en">
                <a:solidFill>
                  <a:srgbClr val="000000"/>
                </a:solidFill>
              </a:rPr>
              <a:t>Interview Prep in iOS</a:t>
            </a:r>
          </a:p>
          <a:p>
            <a:pPr indent="-228600" lvl="0" marL="457200">
              <a:lnSpc>
                <a:spcPct val="100000"/>
              </a:lnSpc>
              <a:spcBef>
                <a:spcPts val="0"/>
              </a:spcBef>
              <a:buClr>
                <a:srgbClr val="000000"/>
              </a:buClr>
            </a:pPr>
            <a:r>
              <a:rPr lang="en">
                <a:solidFill>
                  <a:srgbClr val="000000"/>
                </a:solidFill>
              </a:rPr>
              <a:t>Extensions (there are 18 different kind of extensions in iOS 10) </a:t>
            </a:r>
          </a:p>
          <a:p>
            <a:pPr lvl="0">
              <a:spcBef>
                <a:spcPts val="0"/>
              </a:spcBef>
              <a:buNone/>
            </a:pPr>
            <a:r>
              <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4" name="Shape 154"/>
        <p:cNvGrpSpPr/>
        <p:nvPr/>
      </p:nvGrpSpPr>
      <p:grpSpPr>
        <a:xfrm>
          <a:off x="0" y="0"/>
          <a:ext cx="0" cy="0"/>
          <a:chOff x="0" y="0"/>
          <a:chExt cx="0" cy="0"/>
        </a:xfrm>
      </p:grpSpPr>
      <p:pic>
        <p:nvPicPr>
          <p:cNvPr descr="Image result for Thank you" id="155" name="Shape 155"/>
          <p:cNvPicPr preferRelativeResize="0"/>
          <p:nvPr/>
        </p:nvPicPr>
        <p:blipFill>
          <a:blip r:embed="rId3">
            <a:alphaModFix/>
          </a:blip>
          <a:stretch>
            <a:fillRect/>
          </a:stretch>
        </p:blipFill>
        <p:spPr>
          <a:xfrm>
            <a:off x="1205250" y="1152475"/>
            <a:ext cx="6502399" cy="29971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