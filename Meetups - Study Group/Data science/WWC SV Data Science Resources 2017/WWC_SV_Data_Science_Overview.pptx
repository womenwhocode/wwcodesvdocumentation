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firstSlideNum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Century Gothic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regular.fntdata"/><Relationship Id="rId10" Type="http://schemas.openxmlformats.org/officeDocument/2006/relationships/slide" Target="slides/slide6.xml"/><Relationship Id="rId13" Type="http://schemas.openxmlformats.org/officeDocument/2006/relationships/font" Target="fonts/CenturyGothic-italic.fntdata"/><Relationship Id="rId12" Type="http://schemas.openxmlformats.org/officeDocument/2006/relationships/font" Target="fonts/CenturyGothic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5" name="Shape 11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1" name="Shape 12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Shape 128"/>
          <p:cNvSpPr txBox="1"/>
          <p:nvPr>
            <p:ph idx="12" type="sldNum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7" name="Shape 13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4" name="Shape 14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1" name="Shape 15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png"/><Relationship Id="rId3" Type="http://schemas.openxmlformats.org/officeDocument/2006/relationships/image" Target="../media/image0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lank Slide No Foot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/>
          <p:nvPr/>
        </p:nvSpPr>
        <p:spPr>
          <a:xfrm>
            <a:off x="0" y="0"/>
            <a:ext cx="9144000" cy="855578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8231090" y="0"/>
            <a:ext cx="904287" cy="855578"/>
          </a:xfrm>
          <a:custGeom>
            <a:pathLst>
              <a:path extrusionOk="0" h="120000" w="120000">
                <a:moveTo>
                  <a:pt x="38896" y="0"/>
                </a:moveTo>
                <a:lnTo>
                  <a:pt x="0" y="120000"/>
                </a:lnTo>
                <a:lnTo>
                  <a:pt x="120000" y="120000"/>
                </a:lnTo>
                <a:lnTo>
                  <a:pt x="120000" y="1874"/>
                </a:lnTo>
                <a:lnTo>
                  <a:pt x="38896" y="0"/>
                </a:lnTo>
                <a:close/>
              </a:path>
            </a:pathLst>
          </a:cu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" name="Shape 14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5" name="Shape 15"/>
          <p:cNvSpPr txBox="1"/>
          <p:nvPr/>
        </p:nvSpPr>
        <p:spPr>
          <a:xfrm>
            <a:off x="8400772" y="236578"/>
            <a:ext cx="596001" cy="443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wo column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/>
        </p:nvSpPr>
        <p:spPr>
          <a:xfrm>
            <a:off x="0" y="0"/>
            <a:ext cx="9144000" cy="855578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8231090" y="0"/>
            <a:ext cx="904287" cy="855578"/>
          </a:xfrm>
          <a:custGeom>
            <a:pathLst>
              <a:path extrusionOk="0" h="120000" w="120000">
                <a:moveTo>
                  <a:pt x="38896" y="0"/>
                </a:moveTo>
                <a:lnTo>
                  <a:pt x="0" y="120000"/>
                </a:lnTo>
                <a:lnTo>
                  <a:pt x="120000" y="120000"/>
                </a:lnTo>
                <a:lnTo>
                  <a:pt x="120000" y="1874"/>
                </a:lnTo>
                <a:lnTo>
                  <a:pt x="38896" y="0"/>
                </a:lnTo>
                <a:close/>
              </a:path>
            </a:pathLst>
          </a:cu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321489" y="4838435"/>
            <a:ext cx="1441420" cy="215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800">
                <a:solidFill>
                  <a:srgbClr val="B0011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2016 NetBase Solutions. 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8400772" y="236578"/>
            <a:ext cx="596001" cy="443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  <p:cxnSp>
        <p:nvCxnSpPr>
          <p:cNvPr id="21" name="Shape 21"/>
          <p:cNvCxnSpPr/>
          <p:nvPr/>
        </p:nvCxnSpPr>
        <p:spPr>
          <a:xfrm>
            <a:off x="4572000" y="1688486"/>
            <a:ext cx="0" cy="2646242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Shape 22"/>
          <p:cNvSpPr txBox="1"/>
          <p:nvPr>
            <p:ph idx="1" type="body"/>
          </p:nvPr>
        </p:nvSpPr>
        <p:spPr>
          <a:xfrm>
            <a:off x="321489" y="1200150"/>
            <a:ext cx="37171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Font typeface="Century Gothic"/>
              <a:buNone/>
              <a:defRPr b="1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321489" y="1809750"/>
            <a:ext cx="3716614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0980" lvl="0" marL="27432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SzPct val="59999"/>
              <a:buFont typeface="Century Gothic"/>
              <a:buAutoNum type="arabicPeriod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32409" lvl="1" marL="742950" marR="0" rtl="0" algn="l">
              <a:spcBef>
                <a:spcPts val="280"/>
              </a:spcBef>
              <a:buClr>
                <a:srgbClr val="2C2C2C"/>
              </a:buClr>
              <a:buSzPct val="59999"/>
              <a:buFont typeface="Arial"/>
              <a:buChar char="–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0669" lvl="2" marL="1257300" marR="0" rtl="0" algn="l">
              <a:spcBef>
                <a:spcPts val="280"/>
              </a:spcBef>
              <a:buClr>
                <a:srgbClr val="2C2C2C"/>
              </a:buClr>
              <a:buSzPct val="70000"/>
              <a:buFont typeface="Arial"/>
              <a:buChar char="•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" name="Shape 24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25" name="Shape 25"/>
          <p:cNvSpPr txBox="1"/>
          <p:nvPr>
            <p:ph idx="3" type="body"/>
          </p:nvPr>
        </p:nvSpPr>
        <p:spPr>
          <a:xfrm>
            <a:off x="5029200" y="1200150"/>
            <a:ext cx="37171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Font typeface="Century Gothic"/>
              <a:buNone/>
              <a:defRPr b="1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4" type="body"/>
          </p:nvPr>
        </p:nvSpPr>
        <p:spPr>
          <a:xfrm>
            <a:off x="5029200" y="1809750"/>
            <a:ext cx="3716614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0980" lvl="0" marL="27432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SzPct val="59999"/>
              <a:buFont typeface="Century Gothic"/>
              <a:buAutoNum type="arabicPeriod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3519" lvl="1" marL="742950" marR="0" rtl="0" algn="l">
              <a:spcBef>
                <a:spcPts val="280"/>
              </a:spcBef>
              <a:buClr>
                <a:srgbClr val="2C2C2C"/>
              </a:buClr>
              <a:buSzPct val="70000"/>
              <a:buFont typeface="Arial"/>
              <a:buChar char="–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0669" lvl="2" marL="1257300" marR="0" rtl="0" algn="l">
              <a:spcBef>
                <a:spcPts val="280"/>
              </a:spcBef>
              <a:buClr>
                <a:srgbClr val="2C2C2C"/>
              </a:buClr>
              <a:buSzPct val="70000"/>
              <a:buFont typeface="Arial"/>
              <a:buChar char="•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6-08-03 at 9.58.25 AM.png" id="28" name="Shape 28"/>
          <p:cNvPicPr preferRelativeResize="0"/>
          <p:nvPr/>
        </p:nvPicPr>
        <p:blipFill rotWithShape="1">
          <a:blip r:embed="rId2">
            <a:alphaModFix/>
          </a:blip>
          <a:srcRect b="0" l="3039" r="6636" t="0"/>
          <a:stretch/>
        </p:blipFill>
        <p:spPr>
          <a:xfrm>
            <a:off x="0" y="1254503"/>
            <a:ext cx="9144000" cy="32795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Shape 29"/>
          <p:cNvSpPr/>
          <p:nvPr/>
        </p:nvSpPr>
        <p:spPr>
          <a:xfrm>
            <a:off x="-8466" y="-1"/>
            <a:ext cx="9152466" cy="1254509"/>
          </a:xfrm>
          <a:prstGeom prst="rect">
            <a:avLst/>
          </a:pr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-8466" y="3707219"/>
            <a:ext cx="9152466" cy="1436281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2B2A2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Untitled-5.png" id="31" name="Shape 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876" y="437766"/>
            <a:ext cx="4168958" cy="5163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hape 32"/>
          <p:cNvSpPr txBox="1"/>
          <p:nvPr>
            <p:ph type="ctrTitle"/>
          </p:nvPr>
        </p:nvSpPr>
        <p:spPr>
          <a:xfrm>
            <a:off x="533400" y="3975112"/>
            <a:ext cx="7772400" cy="9588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/>
        </p:nvSpPr>
        <p:spPr>
          <a:xfrm>
            <a:off x="0" y="0"/>
            <a:ext cx="9144000" cy="855578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8231090" y="0"/>
            <a:ext cx="904287" cy="855578"/>
          </a:xfrm>
          <a:custGeom>
            <a:pathLst>
              <a:path extrusionOk="0" h="120000" w="120000">
                <a:moveTo>
                  <a:pt x="38896" y="0"/>
                </a:moveTo>
                <a:lnTo>
                  <a:pt x="0" y="120000"/>
                </a:lnTo>
                <a:lnTo>
                  <a:pt x="120000" y="120000"/>
                </a:lnTo>
                <a:lnTo>
                  <a:pt x="120000" y="1874"/>
                </a:lnTo>
                <a:lnTo>
                  <a:pt x="38896" y="0"/>
                </a:lnTo>
                <a:close/>
              </a:path>
            </a:pathLst>
          </a:cu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321489" y="4838435"/>
            <a:ext cx="1441420" cy="215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800">
                <a:solidFill>
                  <a:srgbClr val="B0011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2016 NetBase Solutions. 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8400772" y="236578"/>
            <a:ext cx="596001" cy="443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  <p:sp>
        <p:nvSpPr>
          <p:cNvPr id="38" name="Shape 38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9" name="Shape 39"/>
          <p:cNvSpPr txBox="1"/>
          <p:nvPr>
            <p:ph idx="1" type="body"/>
          </p:nvPr>
        </p:nvSpPr>
        <p:spPr>
          <a:xfrm>
            <a:off x="321489" y="1200150"/>
            <a:ext cx="37171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Font typeface="Century Gothic"/>
              <a:buNone/>
              <a:defRPr b="1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2" type="body"/>
          </p:nvPr>
        </p:nvSpPr>
        <p:spPr>
          <a:xfrm>
            <a:off x="321986" y="1809750"/>
            <a:ext cx="8078787" cy="1904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53339" lvl="0" marL="0" marR="0" rtl="0" algn="l">
              <a:lnSpc>
                <a:spcPct val="150000"/>
              </a:lnSpc>
              <a:spcBef>
                <a:spcPts val="280"/>
              </a:spcBef>
              <a:buClr>
                <a:srgbClr val="2C2C2C"/>
              </a:buClr>
              <a:buSzPct val="59999"/>
              <a:buFont typeface="Century Gothic"/>
              <a:buAutoNum type="arabicPeriod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32409" lvl="1" marL="742950" marR="0" rtl="0" algn="l">
              <a:spcBef>
                <a:spcPts val="240"/>
              </a:spcBef>
              <a:buClr>
                <a:srgbClr val="2C2C2C"/>
              </a:buClr>
              <a:buSzPct val="70000"/>
              <a:buFont typeface="Arial"/>
              <a:buChar char="–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175260" lvl="2" marL="1143000" marR="0" rtl="0" algn="l">
              <a:spcBef>
                <a:spcPts val="240"/>
              </a:spcBef>
              <a:buClr>
                <a:srgbClr val="2C2C2C"/>
              </a:buClr>
              <a:buSzPct val="70000"/>
              <a:buFont typeface="Arial"/>
              <a:buChar char="•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2_Title and Content w/o subheading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/>
        </p:nvSpPr>
        <p:spPr>
          <a:xfrm>
            <a:off x="0" y="0"/>
            <a:ext cx="9144000" cy="855578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" name="Shape 43"/>
          <p:cNvSpPr/>
          <p:nvPr/>
        </p:nvSpPr>
        <p:spPr>
          <a:xfrm>
            <a:off x="8231090" y="0"/>
            <a:ext cx="904287" cy="855578"/>
          </a:xfrm>
          <a:custGeom>
            <a:pathLst>
              <a:path extrusionOk="0" h="120000" w="120000">
                <a:moveTo>
                  <a:pt x="38896" y="0"/>
                </a:moveTo>
                <a:lnTo>
                  <a:pt x="0" y="120000"/>
                </a:lnTo>
                <a:lnTo>
                  <a:pt x="120000" y="120000"/>
                </a:lnTo>
                <a:lnTo>
                  <a:pt x="120000" y="1874"/>
                </a:lnTo>
                <a:lnTo>
                  <a:pt x="38896" y="0"/>
                </a:lnTo>
                <a:close/>
              </a:path>
            </a:pathLst>
          </a:cu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" name="Shape 44"/>
          <p:cNvSpPr/>
          <p:nvPr/>
        </p:nvSpPr>
        <p:spPr>
          <a:xfrm>
            <a:off x="321489" y="4838435"/>
            <a:ext cx="1441420" cy="215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800">
                <a:solidFill>
                  <a:srgbClr val="B0011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2016 NetBase Solutions. </a:t>
            </a:r>
          </a:p>
        </p:txBody>
      </p:sp>
      <p:sp>
        <p:nvSpPr>
          <p:cNvPr id="45" name="Shape 45"/>
          <p:cNvSpPr txBox="1"/>
          <p:nvPr/>
        </p:nvSpPr>
        <p:spPr>
          <a:xfrm>
            <a:off x="8400772" y="236578"/>
            <a:ext cx="596001" cy="443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  <p:sp>
        <p:nvSpPr>
          <p:cNvPr id="46" name="Shape 46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7" name="Shape 47"/>
          <p:cNvSpPr txBox="1"/>
          <p:nvPr>
            <p:ph idx="1" type="body"/>
          </p:nvPr>
        </p:nvSpPr>
        <p:spPr>
          <a:xfrm>
            <a:off x="320884" y="1276350"/>
            <a:ext cx="8078787" cy="1904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53339" lvl="0" marL="0" marR="0" rtl="0" algn="l">
              <a:lnSpc>
                <a:spcPct val="150000"/>
              </a:lnSpc>
              <a:spcBef>
                <a:spcPts val="280"/>
              </a:spcBef>
              <a:buClr>
                <a:srgbClr val="2C2C2C"/>
              </a:buClr>
              <a:buSzPct val="59999"/>
              <a:buFont typeface="Century Gothic"/>
              <a:buAutoNum type="arabicPeriod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32409" lvl="1" marL="742950" marR="0" rtl="0" algn="l">
              <a:spcBef>
                <a:spcPts val="240"/>
              </a:spcBef>
              <a:buClr>
                <a:srgbClr val="2C2C2C"/>
              </a:buClr>
              <a:buSzPct val="70000"/>
              <a:buFont typeface="Arial"/>
              <a:buChar char="–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175260" lvl="2" marL="1143000" marR="0" rtl="0" algn="l">
              <a:spcBef>
                <a:spcPts val="240"/>
              </a:spcBef>
              <a:buClr>
                <a:srgbClr val="2C2C2C"/>
              </a:buClr>
              <a:buSzPct val="70000"/>
              <a:buFont typeface="Arial"/>
              <a:buChar char="•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hree column comparis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/>
        </p:nvSpPr>
        <p:spPr>
          <a:xfrm>
            <a:off x="0" y="0"/>
            <a:ext cx="9144000" cy="855578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Shape 50"/>
          <p:cNvSpPr/>
          <p:nvPr/>
        </p:nvSpPr>
        <p:spPr>
          <a:xfrm>
            <a:off x="8231090" y="0"/>
            <a:ext cx="904287" cy="855578"/>
          </a:xfrm>
          <a:custGeom>
            <a:pathLst>
              <a:path extrusionOk="0" h="120000" w="120000">
                <a:moveTo>
                  <a:pt x="38896" y="0"/>
                </a:moveTo>
                <a:lnTo>
                  <a:pt x="0" y="120000"/>
                </a:lnTo>
                <a:lnTo>
                  <a:pt x="120000" y="120000"/>
                </a:lnTo>
                <a:lnTo>
                  <a:pt x="120000" y="1874"/>
                </a:lnTo>
                <a:lnTo>
                  <a:pt x="38896" y="0"/>
                </a:lnTo>
                <a:close/>
              </a:path>
            </a:pathLst>
          </a:cu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Shape 51"/>
          <p:cNvSpPr/>
          <p:nvPr/>
        </p:nvSpPr>
        <p:spPr>
          <a:xfrm>
            <a:off x="321489" y="4838435"/>
            <a:ext cx="1441420" cy="215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800">
                <a:solidFill>
                  <a:srgbClr val="B0011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2016 NetBase Solutions. </a:t>
            </a:r>
          </a:p>
        </p:txBody>
      </p:sp>
      <p:sp>
        <p:nvSpPr>
          <p:cNvPr id="52" name="Shape 52"/>
          <p:cNvSpPr txBox="1"/>
          <p:nvPr/>
        </p:nvSpPr>
        <p:spPr>
          <a:xfrm>
            <a:off x="8400772" y="236578"/>
            <a:ext cx="596001" cy="443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  <p:sp>
        <p:nvSpPr>
          <p:cNvPr id="53" name="Shape 53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cxnSp>
        <p:nvCxnSpPr>
          <p:cNvPr id="54" name="Shape 54"/>
          <p:cNvCxnSpPr/>
          <p:nvPr/>
        </p:nvCxnSpPr>
        <p:spPr>
          <a:xfrm>
            <a:off x="3124200" y="1688486"/>
            <a:ext cx="0" cy="2646242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Shape 55"/>
          <p:cNvCxnSpPr/>
          <p:nvPr/>
        </p:nvCxnSpPr>
        <p:spPr>
          <a:xfrm>
            <a:off x="6096000" y="1688486"/>
            <a:ext cx="0" cy="2646242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" name="Shape 56"/>
          <p:cNvSpPr txBox="1"/>
          <p:nvPr>
            <p:ph idx="1" type="body"/>
          </p:nvPr>
        </p:nvSpPr>
        <p:spPr>
          <a:xfrm>
            <a:off x="321489" y="1200150"/>
            <a:ext cx="2574109" cy="304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Font typeface="Century Gothic"/>
              <a:buNone/>
              <a:def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2" type="body"/>
          </p:nvPr>
        </p:nvSpPr>
        <p:spPr>
          <a:xfrm>
            <a:off x="3294382" y="1200150"/>
            <a:ext cx="2560317" cy="3047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Font typeface="Century Gothic"/>
              <a:buNone/>
              <a:def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3" type="body"/>
          </p:nvPr>
        </p:nvSpPr>
        <p:spPr>
          <a:xfrm>
            <a:off x="321489" y="1809750"/>
            <a:ext cx="2574109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8600" lvl="0" marL="27432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SzPct val="59999"/>
              <a:buFont typeface="Century Gothic"/>
              <a:buAutoNum type="arabicPeriod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2C2C2C"/>
              </a:buClr>
              <a:buFont typeface="Arial"/>
              <a:buNone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46989" lvl="2" marL="857250" marR="0" rtl="0" algn="l">
              <a:spcBef>
                <a:spcPts val="240"/>
              </a:spcBef>
              <a:buClr>
                <a:schemeClr val="dk1"/>
              </a:buClr>
              <a:buSzPct val="700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4" type="body"/>
          </p:nvPr>
        </p:nvSpPr>
        <p:spPr>
          <a:xfrm>
            <a:off x="3294382" y="1809749"/>
            <a:ext cx="2560319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8600" lvl="0" marL="27432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SzPct val="59999"/>
              <a:buFont typeface="Century Gothic"/>
              <a:buAutoNum type="arabicPeriod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40030" lvl="1" marL="742950" marR="0" rtl="0" algn="l">
              <a:spcBef>
                <a:spcPts val="240"/>
              </a:spcBef>
              <a:buClr>
                <a:srgbClr val="2C2C2C"/>
              </a:buClr>
              <a:buSzPct val="59999"/>
              <a:buFont typeface="Arial"/>
              <a:buChar char="–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5" type="body"/>
          </p:nvPr>
        </p:nvSpPr>
        <p:spPr>
          <a:xfrm>
            <a:off x="6385560" y="1809750"/>
            <a:ext cx="2514597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8600" lvl="0" marL="27432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SzPct val="59999"/>
              <a:buFont typeface="Century Gothic"/>
              <a:buAutoNum type="arabicPeriod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19075" lvl="1" marL="742950" marR="0" rtl="0" algn="l">
              <a:spcBef>
                <a:spcPts val="210"/>
              </a:spcBef>
              <a:buClr>
                <a:srgbClr val="2C2C2C"/>
              </a:buClr>
              <a:buSzPct val="95454"/>
              <a:buFont typeface="Arial"/>
              <a:buChar char="–"/>
              <a:defRPr b="0" i="0" sz="105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6" type="body"/>
          </p:nvPr>
        </p:nvSpPr>
        <p:spPr>
          <a:xfrm>
            <a:off x="6385562" y="1200150"/>
            <a:ext cx="2514595" cy="3047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Font typeface="Century Gothic"/>
              <a:buNone/>
              <a:defRPr b="1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lue section: content with imag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Shape 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5637" y="895350"/>
            <a:ext cx="3126989" cy="429122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Shape 64"/>
          <p:cNvSpPr/>
          <p:nvPr/>
        </p:nvSpPr>
        <p:spPr>
          <a:xfrm>
            <a:off x="0" y="0"/>
            <a:ext cx="9144000" cy="855578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" name="Shape 65"/>
          <p:cNvSpPr/>
          <p:nvPr/>
        </p:nvSpPr>
        <p:spPr>
          <a:xfrm>
            <a:off x="8231090" y="0"/>
            <a:ext cx="904287" cy="855578"/>
          </a:xfrm>
          <a:custGeom>
            <a:pathLst>
              <a:path extrusionOk="0" h="120000" w="120000">
                <a:moveTo>
                  <a:pt x="38896" y="0"/>
                </a:moveTo>
                <a:lnTo>
                  <a:pt x="0" y="120000"/>
                </a:lnTo>
                <a:lnTo>
                  <a:pt x="120000" y="120000"/>
                </a:lnTo>
                <a:lnTo>
                  <a:pt x="120000" y="1874"/>
                </a:lnTo>
                <a:lnTo>
                  <a:pt x="38896" y="0"/>
                </a:lnTo>
                <a:close/>
              </a:path>
            </a:pathLst>
          </a:cu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Shape 66"/>
          <p:cNvSpPr txBox="1"/>
          <p:nvPr/>
        </p:nvSpPr>
        <p:spPr>
          <a:xfrm>
            <a:off x="8400772" y="236578"/>
            <a:ext cx="596001" cy="443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  <p:sp>
        <p:nvSpPr>
          <p:cNvPr id="67" name="Shape 67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8" name="Shape 68"/>
          <p:cNvSpPr/>
          <p:nvPr>
            <p:ph idx="2" type="pic"/>
          </p:nvPr>
        </p:nvSpPr>
        <p:spPr>
          <a:xfrm>
            <a:off x="5943600" y="853466"/>
            <a:ext cx="3191300" cy="42900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spcBef>
                <a:spcPts val="210"/>
              </a:spcBef>
              <a:buClr>
                <a:srgbClr val="2C2C2C"/>
              </a:buClr>
              <a:buFont typeface="Arial"/>
              <a:buNone/>
              <a:defRPr b="0" i="0" sz="105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" type="body"/>
          </p:nvPr>
        </p:nvSpPr>
        <p:spPr>
          <a:xfrm>
            <a:off x="321489" y="1200150"/>
            <a:ext cx="5317309" cy="533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Font typeface="Century Gothic"/>
              <a:buNone/>
              <a:defRPr b="1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3" type="body"/>
          </p:nvPr>
        </p:nvSpPr>
        <p:spPr>
          <a:xfrm>
            <a:off x="321489" y="1809750"/>
            <a:ext cx="5317309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0980" lvl="0" marL="27432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SzPct val="59999"/>
              <a:buFont typeface="Century Gothic"/>
              <a:buAutoNum type="arabicPeriod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40030" lvl="1" marL="742950" marR="0" rtl="0" algn="l">
              <a:spcBef>
                <a:spcPts val="240"/>
              </a:spcBef>
              <a:buClr>
                <a:srgbClr val="2C2C2C"/>
              </a:buClr>
              <a:buSzPct val="59999"/>
              <a:buFont typeface="Arial"/>
              <a:buChar char="–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182880" lvl="2" marL="1143000" marR="0" rtl="0" algn="l">
              <a:spcBef>
                <a:spcPts val="240"/>
              </a:spcBef>
              <a:buClr>
                <a:srgbClr val="2C2C2C"/>
              </a:buClr>
              <a:buSzPct val="59999"/>
              <a:buFont typeface="Arial"/>
              <a:buChar char="•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90500" lvl="3" marL="1600200" marR="0" rtl="0" algn="l"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buClr>
                <a:schemeClr val="dk1"/>
              </a:buClr>
              <a:buSzPct val="60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1" name="Shape 71"/>
          <p:cNvSpPr/>
          <p:nvPr/>
        </p:nvSpPr>
        <p:spPr>
          <a:xfrm>
            <a:off x="321489" y="4838435"/>
            <a:ext cx="1441420" cy="215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800">
                <a:solidFill>
                  <a:srgbClr val="B0011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2016 NetBase Solutions.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al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NB_StyleGuide_v1.1 (1).pdf" id="73" name="Shape 73"/>
          <p:cNvSpPr/>
          <p:nvPr/>
        </p:nvSpPr>
        <p:spPr>
          <a:xfrm>
            <a:off x="4810578" y="1696719"/>
            <a:ext cx="4333420" cy="34504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4" name="Shape 74"/>
          <p:cNvSpPr/>
          <p:nvPr/>
        </p:nvSpPr>
        <p:spPr>
          <a:xfrm>
            <a:off x="3505200" y="2952750"/>
            <a:ext cx="2057400" cy="10667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" name="Shape 75"/>
          <p:cNvSpPr txBox="1"/>
          <p:nvPr>
            <p:ph idx="1" type="body"/>
          </p:nvPr>
        </p:nvSpPr>
        <p:spPr>
          <a:xfrm>
            <a:off x="321489" y="1200150"/>
            <a:ext cx="6781800" cy="533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Font typeface="Century Gothic"/>
              <a:buNone/>
              <a:defRPr b="1" i="0" sz="2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1_Title and Conte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/>
        </p:nvSpPr>
        <p:spPr>
          <a:xfrm>
            <a:off x="0" y="0"/>
            <a:ext cx="9144000" cy="855578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" name="Shape 78"/>
          <p:cNvSpPr/>
          <p:nvPr/>
        </p:nvSpPr>
        <p:spPr>
          <a:xfrm>
            <a:off x="8231090" y="0"/>
            <a:ext cx="904287" cy="855578"/>
          </a:xfrm>
          <a:custGeom>
            <a:pathLst>
              <a:path extrusionOk="0" h="120000" w="120000">
                <a:moveTo>
                  <a:pt x="38896" y="0"/>
                </a:moveTo>
                <a:lnTo>
                  <a:pt x="0" y="120000"/>
                </a:lnTo>
                <a:lnTo>
                  <a:pt x="120000" y="120000"/>
                </a:lnTo>
                <a:lnTo>
                  <a:pt x="120000" y="1874"/>
                </a:lnTo>
                <a:lnTo>
                  <a:pt x="38896" y="0"/>
                </a:lnTo>
                <a:close/>
              </a:path>
            </a:pathLst>
          </a:cu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Shape 79"/>
          <p:cNvSpPr/>
          <p:nvPr/>
        </p:nvSpPr>
        <p:spPr>
          <a:xfrm>
            <a:off x="321489" y="4838435"/>
            <a:ext cx="1441420" cy="215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800">
                <a:solidFill>
                  <a:srgbClr val="B0011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2016 NetBase Solutions. </a:t>
            </a:r>
          </a:p>
        </p:txBody>
      </p:sp>
      <p:sp>
        <p:nvSpPr>
          <p:cNvPr id="80" name="Shape 80"/>
          <p:cNvSpPr txBox="1"/>
          <p:nvPr/>
        </p:nvSpPr>
        <p:spPr>
          <a:xfrm>
            <a:off x="8400772" y="236578"/>
            <a:ext cx="596001" cy="443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  <p:sp>
        <p:nvSpPr>
          <p:cNvPr id="81" name="Shape 81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x="321489" y="1200150"/>
            <a:ext cx="37171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Font typeface="Century Gothic"/>
              <a:buNone/>
              <a:defRPr b="1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2" type="body"/>
          </p:nvPr>
        </p:nvSpPr>
        <p:spPr>
          <a:xfrm>
            <a:off x="321986" y="1809750"/>
            <a:ext cx="8078787" cy="2971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12090" lvl="0" marL="354330" marR="0" rtl="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B0011B"/>
              </a:buClr>
              <a:buSzPct val="59999"/>
              <a:buFont typeface="Arial"/>
              <a:buChar char="•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125730" lvl="1" marL="628650" marR="0" rtl="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424242"/>
              </a:buClr>
              <a:buSzPct val="59999"/>
              <a:buFont typeface="Arial"/>
              <a:buChar char="-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188594" lvl="2" marL="1143000" marR="0" rtl="0" algn="l">
              <a:lnSpc>
                <a:spcPct val="150000"/>
              </a:lnSpc>
              <a:spcBef>
                <a:spcPts val="210"/>
              </a:spcBef>
              <a:spcAft>
                <a:spcPts val="0"/>
              </a:spcAft>
              <a:buClr>
                <a:srgbClr val="424242"/>
              </a:buClr>
              <a:buSzPct val="57272"/>
              <a:buFont typeface="Arial"/>
              <a:buChar char="•"/>
              <a:defRPr b="0" i="0" sz="105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88594" lvl="3" marL="1600200" marR="0" rtl="0" algn="l">
              <a:lnSpc>
                <a:spcPct val="150000"/>
              </a:lnSpc>
              <a:spcBef>
                <a:spcPts val="210"/>
              </a:spcBef>
              <a:spcAft>
                <a:spcPts val="0"/>
              </a:spcAft>
              <a:buClr>
                <a:srgbClr val="424242"/>
              </a:buClr>
              <a:buSzPct val="57272"/>
              <a:buFont typeface="Arial"/>
              <a:buChar char="–"/>
              <a:defRPr b="0" i="0" sz="105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 No Foot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/>
        </p:nvSpPr>
        <p:spPr>
          <a:xfrm>
            <a:off x="0" y="0"/>
            <a:ext cx="9144000" cy="855578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" name="Shape 86"/>
          <p:cNvSpPr/>
          <p:nvPr/>
        </p:nvSpPr>
        <p:spPr>
          <a:xfrm>
            <a:off x="8231090" y="0"/>
            <a:ext cx="904287" cy="855578"/>
          </a:xfrm>
          <a:custGeom>
            <a:pathLst>
              <a:path extrusionOk="0" h="120000" w="120000">
                <a:moveTo>
                  <a:pt x="38896" y="0"/>
                </a:moveTo>
                <a:lnTo>
                  <a:pt x="0" y="120000"/>
                </a:lnTo>
                <a:lnTo>
                  <a:pt x="120000" y="120000"/>
                </a:lnTo>
                <a:lnTo>
                  <a:pt x="120000" y="1874"/>
                </a:lnTo>
                <a:lnTo>
                  <a:pt x="388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" name="Shape 87"/>
          <p:cNvSpPr txBox="1"/>
          <p:nvPr/>
        </p:nvSpPr>
        <p:spPr>
          <a:xfrm>
            <a:off x="8400772" y="236578"/>
            <a:ext cx="596001" cy="443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  <p:sp>
        <p:nvSpPr>
          <p:cNvPr id="88" name="Shape 88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321489" y="1200150"/>
            <a:ext cx="6781800" cy="533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Font typeface="Century Gothic"/>
              <a:buNone/>
              <a:defRPr b="1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0" name="Shape 90"/>
          <p:cNvSpPr txBox="1"/>
          <p:nvPr>
            <p:ph idx="2" type="body"/>
          </p:nvPr>
        </p:nvSpPr>
        <p:spPr>
          <a:xfrm>
            <a:off x="321489" y="1809750"/>
            <a:ext cx="6765109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0980" lvl="0" marL="27432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SzPct val="59999"/>
              <a:buFont typeface="Century Gothic"/>
              <a:buAutoNum type="arabicPeriod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3519" lvl="1" marL="742950" marR="0" rtl="0" algn="l">
              <a:spcBef>
                <a:spcPts val="280"/>
              </a:spcBef>
              <a:buClr>
                <a:srgbClr val="2C2C2C"/>
              </a:buClr>
              <a:buSzPct val="70000"/>
              <a:buFont typeface="Arial"/>
              <a:buChar char="–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0669" lvl="2" marL="1257300" marR="0" rtl="0" algn="l">
              <a:spcBef>
                <a:spcPts val="280"/>
              </a:spcBef>
              <a:buClr>
                <a:srgbClr val="2C2C2C"/>
              </a:buClr>
              <a:buSzPct val="70000"/>
              <a:buFont typeface="Arial"/>
              <a:buChar char="•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ide by Side No Foot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/>
        </p:nvSpPr>
        <p:spPr>
          <a:xfrm>
            <a:off x="0" y="0"/>
            <a:ext cx="9144000" cy="855578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Shape 93"/>
          <p:cNvSpPr/>
          <p:nvPr/>
        </p:nvSpPr>
        <p:spPr>
          <a:xfrm>
            <a:off x="8239713" y="0"/>
            <a:ext cx="904287" cy="855578"/>
          </a:xfrm>
          <a:custGeom>
            <a:pathLst>
              <a:path extrusionOk="0" h="120000" w="120000">
                <a:moveTo>
                  <a:pt x="38896" y="0"/>
                </a:moveTo>
                <a:lnTo>
                  <a:pt x="0" y="120000"/>
                </a:lnTo>
                <a:lnTo>
                  <a:pt x="120000" y="120000"/>
                </a:lnTo>
                <a:lnTo>
                  <a:pt x="120000" y="1874"/>
                </a:lnTo>
                <a:lnTo>
                  <a:pt x="38896" y="0"/>
                </a:lnTo>
                <a:close/>
              </a:path>
            </a:pathLst>
          </a:cu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" name="Shape 94"/>
          <p:cNvSpPr txBox="1"/>
          <p:nvPr/>
        </p:nvSpPr>
        <p:spPr>
          <a:xfrm>
            <a:off x="8400772" y="236578"/>
            <a:ext cx="596001" cy="443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  <p:sp>
        <p:nvSpPr>
          <p:cNvPr id="95" name="Shape 95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cxnSp>
        <p:nvCxnSpPr>
          <p:cNvPr id="96" name="Shape 96"/>
          <p:cNvCxnSpPr/>
          <p:nvPr/>
        </p:nvCxnSpPr>
        <p:spPr>
          <a:xfrm>
            <a:off x="4572000" y="1688486"/>
            <a:ext cx="0" cy="2646242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Shape 97"/>
          <p:cNvSpPr txBox="1"/>
          <p:nvPr>
            <p:ph idx="1" type="body"/>
          </p:nvPr>
        </p:nvSpPr>
        <p:spPr>
          <a:xfrm>
            <a:off x="321489" y="1200150"/>
            <a:ext cx="37171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Font typeface="Century Gothic"/>
              <a:buNone/>
              <a:defRPr b="1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8" name="Shape 98"/>
          <p:cNvSpPr txBox="1"/>
          <p:nvPr>
            <p:ph idx="2" type="body"/>
          </p:nvPr>
        </p:nvSpPr>
        <p:spPr>
          <a:xfrm>
            <a:off x="321489" y="1809750"/>
            <a:ext cx="3716614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0980" lvl="0" marL="27432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SzPct val="59999"/>
              <a:buFont typeface="Century Gothic"/>
              <a:buAutoNum type="arabicPeriod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32409" lvl="1" marL="742950" marR="0" rtl="0" algn="l">
              <a:spcBef>
                <a:spcPts val="240"/>
              </a:spcBef>
              <a:buClr>
                <a:srgbClr val="2C2C2C"/>
              </a:buClr>
              <a:buSzPct val="70000"/>
              <a:buFont typeface="Arial"/>
              <a:buChar char="–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9560" lvl="2" marL="1257300" marR="0" rtl="0" algn="l">
              <a:spcBef>
                <a:spcPts val="240"/>
              </a:spcBef>
              <a:buClr>
                <a:srgbClr val="2C2C2C"/>
              </a:buClr>
              <a:buSzPct val="70000"/>
              <a:buFont typeface="Arial"/>
              <a:buChar char="•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9" name="Shape 99"/>
          <p:cNvSpPr txBox="1"/>
          <p:nvPr>
            <p:ph idx="3" type="body"/>
          </p:nvPr>
        </p:nvSpPr>
        <p:spPr>
          <a:xfrm>
            <a:off x="5029200" y="1200150"/>
            <a:ext cx="37171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Font typeface="Century Gothic"/>
              <a:buNone/>
              <a:defRPr b="1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0" name="Shape 100"/>
          <p:cNvSpPr txBox="1"/>
          <p:nvPr>
            <p:ph idx="4" type="body"/>
          </p:nvPr>
        </p:nvSpPr>
        <p:spPr>
          <a:xfrm>
            <a:off x="5029200" y="1809750"/>
            <a:ext cx="3716614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0980" lvl="0" marL="27432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SzPct val="59999"/>
              <a:buFont typeface="Century Gothic"/>
              <a:buAutoNum type="arabicPeriod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32409" lvl="1" marL="742950" marR="0" rtl="0" algn="l">
              <a:spcBef>
                <a:spcPts val="240"/>
              </a:spcBef>
              <a:buClr>
                <a:srgbClr val="2C2C2C"/>
              </a:buClr>
              <a:buSzPct val="70000"/>
              <a:buFont typeface="Arial"/>
              <a:buChar char="–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9560" lvl="2" marL="1257300" marR="0" rtl="0" algn="l">
              <a:spcBef>
                <a:spcPts val="240"/>
              </a:spcBef>
              <a:buClr>
                <a:srgbClr val="2C2C2C"/>
              </a:buClr>
              <a:buSzPct val="70000"/>
              <a:buFont typeface="Arial"/>
              <a:buChar char="•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ulle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/>
        </p:nvSpPr>
        <p:spPr>
          <a:xfrm>
            <a:off x="0" y="0"/>
            <a:ext cx="9144000" cy="855578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Shape 103"/>
          <p:cNvSpPr/>
          <p:nvPr/>
        </p:nvSpPr>
        <p:spPr>
          <a:xfrm>
            <a:off x="8231090" y="0"/>
            <a:ext cx="904287" cy="855578"/>
          </a:xfrm>
          <a:custGeom>
            <a:pathLst>
              <a:path extrusionOk="0" h="120000" w="120000">
                <a:moveTo>
                  <a:pt x="38896" y="0"/>
                </a:moveTo>
                <a:lnTo>
                  <a:pt x="0" y="120000"/>
                </a:lnTo>
                <a:lnTo>
                  <a:pt x="120000" y="120000"/>
                </a:lnTo>
                <a:lnTo>
                  <a:pt x="120000" y="1874"/>
                </a:lnTo>
                <a:lnTo>
                  <a:pt x="38896" y="0"/>
                </a:lnTo>
                <a:close/>
              </a:path>
            </a:pathLst>
          </a:cu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Shape 104"/>
          <p:cNvSpPr txBox="1"/>
          <p:nvPr/>
        </p:nvSpPr>
        <p:spPr>
          <a:xfrm>
            <a:off x="8400772" y="236578"/>
            <a:ext cx="596001" cy="443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  <p:sp>
        <p:nvSpPr>
          <p:cNvPr id="105" name="Shape 105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lt1"/>
              </a:buClr>
              <a:buFont typeface="Century Gothic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06" name="Shape 106"/>
          <p:cNvSpPr txBox="1"/>
          <p:nvPr>
            <p:ph idx="1" type="body"/>
          </p:nvPr>
        </p:nvSpPr>
        <p:spPr>
          <a:xfrm>
            <a:off x="321489" y="1200150"/>
            <a:ext cx="37171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2C2C2C"/>
              </a:buClr>
              <a:buFont typeface="Century Gothic"/>
              <a:buNone/>
              <a:defRPr b="1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929292"/>
              </a:buClr>
              <a:buFont typeface="Century Gothic"/>
              <a:buNone/>
              <a:defRPr b="1" i="0" sz="1400" u="none" cap="none" strike="noStrike">
                <a:solidFill>
                  <a:srgbClr val="92929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7" name="Shape 107"/>
          <p:cNvSpPr txBox="1"/>
          <p:nvPr>
            <p:ph idx="2" type="body"/>
          </p:nvPr>
        </p:nvSpPr>
        <p:spPr>
          <a:xfrm>
            <a:off x="321986" y="1809750"/>
            <a:ext cx="8078787" cy="1904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53339" lvl="0" marL="0" marR="0" rtl="0" algn="l">
              <a:lnSpc>
                <a:spcPct val="150000"/>
              </a:lnSpc>
              <a:spcBef>
                <a:spcPts val="280"/>
              </a:spcBef>
              <a:buClr>
                <a:srgbClr val="2C2C2C"/>
              </a:buClr>
              <a:buSzPct val="59999"/>
              <a:buFont typeface="Arial"/>
              <a:buChar char="•"/>
              <a:defRPr b="0" i="0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32409" lvl="1" marL="742950" marR="0" rtl="0" algn="l">
              <a:spcBef>
                <a:spcPts val="240"/>
              </a:spcBef>
              <a:buClr>
                <a:srgbClr val="2C2C2C"/>
              </a:buClr>
              <a:buSzPct val="70000"/>
              <a:buFont typeface="Arial"/>
              <a:buChar char="–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175260" lvl="2" marL="1143000" marR="0" rtl="0" algn="l">
              <a:spcBef>
                <a:spcPts val="240"/>
              </a:spcBef>
              <a:buClr>
                <a:srgbClr val="2C2C2C"/>
              </a:buClr>
              <a:buSzPct val="70000"/>
              <a:buFont typeface="Arial"/>
              <a:buChar char="•"/>
              <a:defRPr b="0" i="0" sz="12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End slid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/>
          <p:nvPr/>
        </p:nvSpPr>
        <p:spPr>
          <a:xfrm>
            <a:off x="-8466" y="-19050"/>
            <a:ext cx="9152466" cy="3707221"/>
          </a:xfrm>
          <a:prstGeom prst="rect">
            <a:avLst/>
          </a:prstGeom>
          <a:solidFill>
            <a:srgbClr val="B0011B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" name="Shape 110"/>
          <p:cNvSpPr/>
          <p:nvPr/>
        </p:nvSpPr>
        <p:spPr>
          <a:xfrm>
            <a:off x="-8466" y="3707219"/>
            <a:ext cx="9152466" cy="1436281"/>
          </a:xfrm>
          <a:prstGeom prst="rect">
            <a:avLst/>
          </a:prstGeom>
          <a:solidFill>
            <a:srgbClr val="2B2A2D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2B2A2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Untitled-5.png" id="111" name="Shape 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47469" y="1738027"/>
            <a:ext cx="6103774" cy="75605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/>
          <p:nvPr/>
        </p:nvSpPr>
        <p:spPr>
          <a:xfrm>
            <a:off x="2740800" y="4324350"/>
            <a:ext cx="3717111" cy="30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entury Gothic"/>
              <a:buNone/>
            </a:pPr>
            <a:r>
              <a:rPr b="1" lang="en-U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idx="12" type="sldNum"/>
          </p:nvPr>
        </p:nvSpPr>
        <p:spPr>
          <a:xfrm>
            <a:off x="6553200" y="4767262"/>
            <a:ext cx="2133599" cy="27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Century Gothic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Science 2017 Roadmap</a:t>
            </a:r>
          </a:p>
        </p:txBody>
      </p:sp>
      <p:sp>
        <p:nvSpPr>
          <p:cNvPr id="118" name="Shape 118"/>
          <p:cNvSpPr txBox="1"/>
          <p:nvPr/>
        </p:nvSpPr>
        <p:spPr>
          <a:xfrm>
            <a:off x="533400" y="1200150"/>
            <a:ext cx="7941678" cy="3385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Monthly Talks (ten total)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Career panel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Entrepreneurship (maybe in with Venture Hack Club)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Education (speakers from Galvanize, Udacity, Metis, Insight, etc.)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Recruiters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Technical talks (e.g. Mobile and Machine Learning)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Workshops/Study Groups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February – April: Kaggle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May – July: R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September – November: Interview prep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TBD - Data Engineering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TBD -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Century Gothic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Organizing Monthly Talks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533400" y="1200150"/>
            <a:ext cx="7941678" cy="369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Two months in advance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Identify coordinator from core group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 host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 speaker(s) if not provided by host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 on Meetup</a:t>
            </a:r>
          </a:p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Few weeks in advance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Make announcement (Meetup, Facebook, Twitter, newsletter)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Coordinate on site volunteers</a:t>
            </a:r>
          </a:p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Week of event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Send Meetup reminder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Confirm agenda with speaker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Confirm agenda and logistics with host</a:t>
            </a:r>
          </a:p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Day of event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Staff entrance with name tags, attendance/newsletter sign up sheet</a:t>
            </a:r>
          </a:p>
          <a:p>
            <a:pPr indent="-342900" lvl="1" marL="8001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Keep to agreed agenda</a:t>
            </a:r>
          </a:p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Font typeface="Century Gothic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/>
          <p:nvPr>
            <p:ph idx="1" type="body"/>
          </p:nvPr>
        </p:nvSpPr>
        <p:spPr>
          <a:xfrm>
            <a:off x="321489" y="1200150"/>
            <a:ext cx="37171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ct val="25000"/>
              <a:buFont typeface="Century Gothic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Core Group</a:t>
            </a:r>
          </a:p>
        </p:txBody>
      </p:sp>
      <p:sp>
        <p:nvSpPr>
          <p:cNvPr id="131" name="Shape 131"/>
          <p:cNvSpPr txBox="1"/>
          <p:nvPr>
            <p:ph idx="2" type="body"/>
          </p:nvPr>
        </p:nvSpPr>
        <p:spPr>
          <a:xfrm>
            <a:off x="321489" y="1809750"/>
            <a:ext cx="3716614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285750" lvl="0" marL="2857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ct val="59999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Six to seven members</a:t>
            </a:r>
          </a:p>
          <a:p>
            <a:pPr indent="-285750" lvl="0" marL="28575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C2C2C"/>
              </a:buClr>
              <a:buSzPct val="59999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Commit to at least six months</a:t>
            </a:r>
          </a:p>
          <a:p>
            <a:pPr indent="-285750" lvl="0" marL="28575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C2C2C"/>
              </a:buClr>
              <a:buSzPct val="59999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Participate in phone meeting every other week</a:t>
            </a:r>
          </a:p>
          <a:p>
            <a:pPr indent="-285750" lvl="0" marL="28575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C2C2C"/>
              </a:buClr>
              <a:buSzPct val="59999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Attend quarterly meeting in person</a:t>
            </a:r>
          </a:p>
          <a:p>
            <a:pPr indent="-285750" lvl="0" marL="28575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C2C2C"/>
              </a:buClr>
              <a:buSzPct val="599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C2C2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Shape 132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Century Gothic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to make this all happen!</a:t>
            </a:r>
          </a:p>
        </p:txBody>
      </p:sp>
      <p:sp>
        <p:nvSpPr>
          <p:cNvPr id="133" name="Shape 133"/>
          <p:cNvSpPr txBox="1"/>
          <p:nvPr>
            <p:ph idx="3" type="body"/>
          </p:nvPr>
        </p:nvSpPr>
        <p:spPr>
          <a:xfrm>
            <a:off x="5029200" y="1200150"/>
            <a:ext cx="37171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ct val="25000"/>
              <a:buFont typeface="Century Gothic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Call Volunteers</a:t>
            </a:r>
          </a:p>
        </p:txBody>
      </p:sp>
      <p:sp>
        <p:nvSpPr>
          <p:cNvPr id="134" name="Shape 134"/>
          <p:cNvSpPr txBox="1"/>
          <p:nvPr>
            <p:ph idx="4" type="body"/>
          </p:nvPr>
        </p:nvSpPr>
        <p:spPr>
          <a:xfrm>
            <a:off x="5029200" y="1809750"/>
            <a:ext cx="3716614" cy="2524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285750" lvl="0" marL="2857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ct val="59999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Contribute on an ad hoc basis</a:t>
            </a:r>
          </a:p>
          <a:p>
            <a:pPr indent="-285750" lvl="0" marL="28575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C2C2C"/>
              </a:buClr>
              <a:buSzPct val="59999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Will be contacted by volunteer coordinator in core group with available opportunities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Century Gothic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Core Group Roles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533400" y="1200150"/>
            <a:ext cx="7941678" cy="553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Font typeface="Century Gothic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Shape 141"/>
          <p:cNvSpPr txBox="1"/>
          <p:nvPr/>
        </p:nvSpPr>
        <p:spPr>
          <a:xfrm>
            <a:off x="457200" y="1200150"/>
            <a:ext cx="6629400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Meeting Organizer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up biweekly meetings and take meeting notes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Liaison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Attend WWC SV chapter meetings and function as main contact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Host/Speaker Record Keeper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Maintain records of communications with potential hosts and speakers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Newsletter Editor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monthly newsletter and maintain email distribution list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Volunteer Organizer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Recruit and maintain information on volunteers, connecting them with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Century Gothic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Additional Core Group Tasks</a:t>
            </a:r>
          </a:p>
        </p:txBody>
      </p:sp>
      <p:sp>
        <p:nvSpPr>
          <p:cNvPr id="147" name="Shape 147"/>
          <p:cNvSpPr txBox="1"/>
          <p:nvPr/>
        </p:nvSpPr>
        <p:spPr>
          <a:xfrm>
            <a:off x="533400" y="1200150"/>
            <a:ext cx="7941678" cy="553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Font typeface="Century Gothic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" name="Shape 148"/>
          <p:cNvSpPr txBox="1"/>
          <p:nvPr/>
        </p:nvSpPr>
        <p:spPr>
          <a:xfrm>
            <a:off x="457200" y="1200150"/>
            <a:ext cx="6629400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These tasks may be rotated among core group members: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Event Coordination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Single point of contact for an event; ensures all necessary tasks are completed on schedule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Event Announcements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 announcements on Meetup, Facebook, and/or Twitter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/>
          <p:nvPr>
            <p:ph type="title"/>
          </p:nvPr>
        </p:nvSpPr>
        <p:spPr>
          <a:xfrm>
            <a:off x="245478" y="209550"/>
            <a:ext cx="8229600" cy="415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Century Gothic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Call Volunteer Opportunities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533400" y="1200150"/>
            <a:ext cx="7941678" cy="553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buClr>
                <a:schemeClr val="dk1"/>
              </a:buClr>
              <a:buFont typeface="Century Gothic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Shape 155"/>
          <p:cNvSpPr txBox="1"/>
          <p:nvPr/>
        </p:nvSpPr>
        <p:spPr>
          <a:xfrm>
            <a:off x="457200" y="1200150"/>
            <a:ext cx="6629400" cy="1600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Contact potential hosts and/or speakers to check their interest and availability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Coordinate with the host and speaker for a specific talk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Provide on site support for an event, e.g. greeting attendees, handling name tag and sign in sheets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Help out with a workshop, e.g. answering individual questions during an exercise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Netbase color palette">
      <a:dk1>
        <a:srgbClr val="595959"/>
      </a:dk1>
      <a:lt1>
        <a:srgbClr val="FFFFFF"/>
      </a:lt1>
      <a:dk2>
        <a:srgbClr val="595959"/>
      </a:dk2>
      <a:lt2>
        <a:srgbClr val="EEECE1"/>
      </a:lt2>
      <a:accent1>
        <a:srgbClr val="C01823"/>
      </a:accent1>
      <a:accent2>
        <a:srgbClr val="006FB8"/>
      </a:accent2>
      <a:accent3>
        <a:srgbClr val="8EB84A"/>
      </a:accent3>
      <a:accent4>
        <a:srgbClr val="8354A2"/>
      </a:accent4>
      <a:accent5>
        <a:srgbClr val="D2007D"/>
      </a:accent5>
      <a:accent6>
        <a:srgbClr val="FFCD03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