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</p:sldIdLst>
  <p:sldSz cy="6858000" cx="9144000"/>
  <p:notesSz cx="6858000" cy="9144000"/>
  <p:embeddedFontLst>
    <p:embeddedFont>
      <p:font typeface="Lobster"/>
      <p:regular r:id="rId6"/>
    </p:embeddedFont>
    <p:embeddedFont>
      <p:font typeface="Montserrat"/>
      <p:regular r:id="rId7"/>
      <p:bold r:id="rId8"/>
      <p:italic r:id="rId9"/>
      <p:boldItalic r:id="rId10"/>
    </p:embeddedFont>
    <p:embeddedFont>
      <p:font typeface="Pacifico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acifico-regular.fntdata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font" Target="fonts/Lobster-regular.fntdata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>
            <a:noAutofit/>
          </a:bodyPr>
          <a:lstStyle/>
          <a:p>
            <a:pPr indent="0" lvl="0" marL="0" marR="0" rtl="0" algn="r">
              <a:spcBef>
                <a:spcPts val="0"/>
              </a:spcBef>
            </a:pPr>
            <a:r>
              <a:t/>
            </a:r>
            <a:endParaRPr/>
          </a:p>
          <a:p>
            <a:pPr indent="0" lvl="1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2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3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4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5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6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7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8" marL="0" marR="0" rtl="0" algn="l">
              <a:spcBef>
                <a:spcPts val="0"/>
              </a:spcBef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" name="Shape 3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buClr>
                <a:srgbClr val="00B6AA"/>
              </a:buClr>
              <a:buNone/>
              <a:defRPr>
                <a:solidFill>
                  <a:srgbClr val="00B6AA"/>
                </a:solidFill>
              </a:defRPr>
            </a:lvl1pPr>
            <a:lvl2pPr lvl="1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2" type="body"/>
          </p:nvPr>
        </p:nvSpPr>
        <p:spPr>
          <a:xfrm>
            <a:off x="4692273" y="1600200"/>
            <a:ext cx="3994500" cy="4967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idx="1" type="body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360"/>
              </a:spcBef>
              <a:buSzPct val="1000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WWCode Templat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48481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2"/>
              </a:buClr>
              <a:buFont typeface="Montserrat"/>
              <a:buNone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430850" y="1295400"/>
            <a:ext cx="8283599" cy="5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8600" lvl="0" marL="342900" rtl="0" algn="l">
              <a:spcBef>
                <a:spcPts val="700"/>
              </a:spcBef>
              <a:buClr>
                <a:srgbClr val="252526"/>
              </a:buClr>
              <a:buChar char="•"/>
              <a:defRPr sz="2800">
                <a:solidFill>
                  <a:srgbClr val="252526"/>
                </a:solidFill>
              </a:defRPr>
            </a:lvl1pPr>
            <a:lvl2pPr indent="-171450" lvl="1" marL="742950" rtl="0" algn="l">
              <a:spcBef>
                <a:spcPts val="360"/>
              </a:spcBef>
              <a:buClr>
                <a:srgbClr val="252526"/>
              </a:buClr>
              <a:buChar char="–"/>
              <a:defRPr>
                <a:solidFill>
                  <a:srgbClr val="252526"/>
                </a:solidFill>
              </a:defRPr>
            </a:lvl2pPr>
            <a:lvl3pPr indent="-114300" lvl="2" marL="1143000" rtl="0" algn="l">
              <a:spcBef>
                <a:spcPts val="36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3pPr>
            <a:lvl4pPr indent="-114300" lvl="3" marL="1600200" rtl="0" algn="l">
              <a:spcBef>
                <a:spcPts val="360"/>
              </a:spcBef>
              <a:buClr>
                <a:srgbClr val="252526"/>
              </a:buClr>
              <a:buChar char="–"/>
              <a:defRPr>
                <a:solidFill>
                  <a:srgbClr val="252526"/>
                </a:solidFill>
              </a:defRPr>
            </a:lvl4pPr>
            <a:lvl5pPr indent="-114300" lvl="4" marL="2057400" rtl="0" algn="l">
              <a:spcBef>
                <a:spcPts val="360"/>
              </a:spcBef>
              <a:buClr>
                <a:srgbClr val="252526"/>
              </a:buClr>
              <a:buChar char="»"/>
              <a:defRPr>
                <a:solidFill>
                  <a:srgbClr val="252526"/>
                </a:solidFill>
              </a:defRPr>
            </a:lvl5pPr>
            <a:lvl6pPr indent="-101600" lvl="5" marL="25146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6pPr>
            <a:lvl7pPr indent="-101600" lvl="6" marL="29718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7pPr>
            <a:lvl8pPr indent="-101600" lvl="7" marL="34290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8pPr>
            <a:lvl9pPr indent="-101600" lvl="8" marL="38862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10" type="dt"/>
          </p:nvPr>
        </p:nvSpPr>
        <p:spPr>
          <a:xfrm>
            <a:off x="457200" y="6356350"/>
            <a:ext cx="21335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1" type="ftr"/>
          </p:nvPr>
        </p:nvSpPr>
        <p:spPr>
          <a:xfrm>
            <a:off x="3124200" y="6356350"/>
            <a:ext cx="2895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3" name="Shape 33"/>
          <p:cNvSpPr txBox="1"/>
          <p:nvPr>
            <p:ph idx="12" type="sldNum"/>
          </p:nvPr>
        </p:nvSpPr>
        <p:spPr>
          <a:xfrm>
            <a:off x="6553200" y="6356350"/>
            <a:ext cx="21335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spcBef>
                <a:spcPts val="0"/>
              </a:spcBef>
            </a:pPr>
            <a:r>
              <a:t/>
            </a:r>
            <a:endParaRPr/>
          </a:p>
          <a:p>
            <a:pPr indent="0" lvl="1" marL="4572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2" marL="9144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3" marL="13716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4" marL="18288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5" marL="22860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6" marL="27432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7" marL="32004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8" marL="3657600" marR="0" rtl="0" algn="l">
              <a:spcBef>
                <a:spcPts val="0"/>
              </a:spcBef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Shape 12"/>
          <p:cNvSpPr/>
          <p:nvPr/>
        </p:nvSpPr>
        <p:spPr>
          <a:xfrm>
            <a:off x="0" y="6668375"/>
            <a:ext cx="9144000" cy="217799"/>
          </a:xfrm>
          <a:prstGeom prst="rect">
            <a:avLst/>
          </a:prstGeom>
          <a:solidFill>
            <a:srgbClr val="00B6AA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1.png"/><Relationship Id="rId4" Type="http://schemas.openxmlformats.org/officeDocument/2006/relationships/image" Target="../media/image0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/>
        </p:nvSpPr>
        <p:spPr>
          <a:xfrm>
            <a:off x="1086600" y="258325"/>
            <a:ext cx="6970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-US" sz="36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MVP Award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23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23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3600">
              <a:solidFill>
                <a:srgbClr val="00B6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Shape 39"/>
          <p:cNvSpPr txBox="1"/>
          <p:nvPr/>
        </p:nvSpPr>
        <p:spPr>
          <a:xfrm>
            <a:off x="0" y="1198900"/>
            <a:ext cx="91440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-US" sz="28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For exceptional contribution to </a:t>
            </a:r>
          </a:p>
          <a:p>
            <a:pPr lvl="0" rtl="0" algn="ctr">
              <a:spcBef>
                <a:spcPts val="0"/>
              </a:spcBef>
              <a:buNone/>
            </a:pPr>
            <a:r>
              <a:rPr lang="en-US" sz="28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Silicon Valley Chapter </a:t>
            </a:r>
          </a:p>
          <a:p>
            <a:pPr lvl="0" rtl="0" algn="ctr">
              <a:spcBef>
                <a:spcPts val="0"/>
              </a:spcBef>
              <a:buNone/>
            </a:pPr>
            <a:r>
              <a:t/>
            </a:r>
            <a:endParaRPr sz="28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rtl="0" algn="l">
              <a:spcBef>
                <a:spcPts val="0"/>
              </a:spcBef>
              <a:buNone/>
            </a:pPr>
            <a:r>
              <a:t/>
            </a:r>
            <a:endParaRPr sz="30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Shape 40"/>
          <p:cNvSpPr txBox="1"/>
          <p:nvPr/>
        </p:nvSpPr>
        <p:spPr>
          <a:xfrm>
            <a:off x="381000" y="5647900"/>
            <a:ext cx="41526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Guiti Nabavi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Co-Founder Silicon Valley Chapter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Women Who Code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4648200" y="5647900"/>
            <a:ext cx="41526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Alaina Percival</a:t>
            </a:r>
          </a:p>
          <a:p>
            <a:pPr lvl="0" rtl="0" algn="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CEO &amp; Board Chair</a:t>
            </a:r>
          </a:p>
          <a:p>
            <a:pPr lvl="0" rtl="0" algn="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Women Who Code</a:t>
            </a:r>
          </a:p>
        </p:txBody>
      </p:sp>
      <p:cxnSp>
        <p:nvCxnSpPr>
          <p:cNvPr id="42" name="Shape 42"/>
          <p:cNvCxnSpPr/>
          <p:nvPr/>
        </p:nvCxnSpPr>
        <p:spPr>
          <a:xfrm>
            <a:off x="381000" y="5861950"/>
            <a:ext cx="2482200" cy="2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  <p:cxnSp>
        <p:nvCxnSpPr>
          <p:cNvPr id="43" name="Shape 43"/>
          <p:cNvCxnSpPr/>
          <p:nvPr/>
        </p:nvCxnSpPr>
        <p:spPr>
          <a:xfrm>
            <a:off x="6324600" y="5861950"/>
            <a:ext cx="2482200" cy="2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  <p:sp>
        <p:nvSpPr>
          <p:cNvPr id="44" name="Shape 44"/>
          <p:cNvSpPr txBox="1"/>
          <p:nvPr/>
        </p:nvSpPr>
        <p:spPr>
          <a:xfrm>
            <a:off x="287062" y="5317375"/>
            <a:ext cx="2482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 sz="2500">
                <a:latin typeface="Pacifico"/>
                <a:ea typeface="Pacifico"/>
                <a:cs typeface="Pacifico"/>
                <a:sym typeface="Pacifico"/>
              </a:rPr>
              <a:t>Guiti Nabavi</a:t>
            </a:r>
          </a:p>
        </p:txBody>
      </p:sp>
      <p:sp>
        <p:nvSpPr>
          <p:cNvPr id="45" name="Shape 45"/>
          <p:cNvSpPr txBox="1"/>
          <p:nvPr/>
        </p:nvSpPr>
        <p:spPr>
          <a:xfrm>
            <a:off x="6374750" y="5317375"/>
            <a:ext cx="2482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-US" sz="2500">
                <a:latin typeface="Lobster"/>
                <a:ea typeface="Lobster"/>
                <a:cs typeface="Lobster"/>
                <a:sym typeface="Lobster"/>
              </a:rPr>
              <a:t>Alaina Percival</a:t>
            </a:r>
          </a:p>
        </p:txBody>
      </p:sp>
      <p:pic>
        <p:nvPicPr>
          <p:cNvPr descr="vm-award-trophy-273x300.png" id="46" name="Shape 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437" y="3266749"/>
            <a:ext cx="1676035" cy="1841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m-award-trophy-273x300.png" id="47" name="Shape 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49" y="3266749"/>
            <a:ext cx="1676035" cy="1841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Shape 48"/>
          <p:cNvCxnSpPr/>
          <p:nvPr/>
        </p:nvCxnSpPr>
        <p:spPr>
          <a:xfrm>
            <a:off x="1465925" y="3021225"/>
            <a:ext cx="604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  <p:sp>
        <p:nvSpPr>
          <p:cNvPr id="49" name="Shape 49"/>
          <p:cNvSpPr txBox="1"/>
          <p:nvPr/>
        </p:nvSpPr>
        <p:spPr>
          <a:xfrm>
            <a:off x="401400" y="3021225"/>
            <a:ext cx="80946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</a:rPr>
              <a:t>Awarded on this day October 8, 2016, San Jose, CA</a:t>
            </a:r>
          </a:p>
          <a:p>
            <a:pPr lvl="0" algn="ct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</a:rPr>
              <a:t>for Algorithm and Interview Prep Leadership</a:t>
            </a:r>
          </a:p>
        </p:txBody>
      </p:sp>
      <p:pic>
        <p:nvPicPr>
          <p:cNvPr descr="wwc-sv-logo-white.png" id="50" name="Shape 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9492" y="3653450"/>
            <a:ext cx="2633606" cy="21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WCode Teal Bar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